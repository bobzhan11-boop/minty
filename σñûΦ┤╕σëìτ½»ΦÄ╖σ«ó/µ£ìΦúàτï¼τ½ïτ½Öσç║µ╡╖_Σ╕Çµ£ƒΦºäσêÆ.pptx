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2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514350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949440" y="228600"/>
            <a:ext cx="54864" cy="54864"/>
          </a:xfrm>
          <a:prstGeom prst="ellipse">
            <a:avLst/>
          </a:prstGeom>
          <a:solidFill>
            <a:srgbClr val="FFFFFF">
              <a:alpha val="18000"/>
            </a:srgbClr>
          </a:solidFill>
          <a:ln w="12700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251192" y="228600"/>
            <a:ext cx="54864" cy="54864"/>
          </a:xfrm>
          <a:prstGeom prst="ellipse">
            <a:avLst/>
          </a:prstGeom>
          <a:solidFill>
            <a:srgbClr val="FFFFFF">
              <a:alpha val="18000"/>
            </a:srgbClr>
          </a:solidFill>
          <a:ln w="12700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552944" y="228600"/>
            <a:ext cx="54864" cy="54864"/>
          </a:xfrm>
          <a:prstGeom prst="ellipse">
            <a:avLst/>
          </a:prstGeom>
          <a:solidFill>
            <a:srgbClr val="FFFFFF">
              <a:alpha val="18000"/>
            </a:srgbClr>
          </a:solidFill>
          <a:ln w="12700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854696" y="228600"/>
            <a:ext cx="54864" cy="54864"/>
          </a:xfrm>
          <a:prstGeom prst="ellipse">
            <a:avLst/>
          </a:prstGeom>
          <a:solidFill>
            <a:srgbClr val="FFFFFF">
              <a:alpha val="18000"/>
            </a:srgbClr>
          </a:solidFill>
          <a:ln w="12700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156448" y="228600"/>
            <a:ext cx="54864" cy="54864"/>
          </a:xfrm>
          <a:prstGeom prst="ellipse">
            <a:avLst/>
          </a:prstGeom>
          <a:solidFill>
            <a:srgbClr val="FFFFFF">
              <a:alpha val="18000"/>
            </a:srgbClr>
          </a:solidFill>
          <a:ln w="12700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458200" y="228600"/>
            <a:ext cx="54864" cy="54864"/>
          </a:xfrm>
          <a:prstGeom prst="ellipse">
            <a:avLst/>
          </a:prstGeom>
          <a:solidFill>
            <a:srgbClr val="FFFFFF">
              <a:alpha val="18000"/>
            </a:srgbClr>
          </a:solidFill>
          <a:ln w="12700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759952" y="228600"/>
            <a:ext cx="54864" cy="54864"/>
          </a:xfrm>
          <a:prstGeom prst="ellipse">
            <a:avLst/>
          </a:prstGeom>
          <a:solidFill>
            <a:srgbClr val="FFFFFF">
              <a:alpha val="18000"/>
            </a:srgbClr>
          </a:solidFill>
          <a:ln w="12700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949440" y="685800"/>
            <a:ext cx="54864" cy="54864"/>
          </a:xfrm>
          <a:prstGeom prst="ellipse">
            <a:avLst/>
          </a:prstGeom>
          <a:solidFill>
            <a:srgbClr val="FFFFFF">
              <a:alpha val="18000"/>
            </a:srgbClr>
          </a:solidFill>
          <a:ln w="12700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251192" y="685800"/>
            <a:ext cx="54864" cy="54864"/>
          </a:xfrm>
          <a:prstGeom prst="ellipse">
            <a:avLst/>
          </a:prstGeom>
          <a:solidFill>
            <a:srgbClr val="FFFFFF">
              <a:alpha val="18000"/>
            </a:srgbClr>
          </a:solidFill>
          <a:ln w="12700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552944" y="685800"/>
            <a:ext cx="54864" cy="54864"/>
          </a:xfrm>
          <a:prstGeom prst="ellipse">
            <a:avLst/>
          </a:prstGeom>
          <a:solidFill>
            <a:srgbClr val="FFFFFF">
              <a:alpha val="18000"/>
            </a:srgbClr>
          </a:solidFill>
          <a:ln w="12700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854696" y="685800"/>
            <a:ext cx="54864" cy="54864"/>
          </a:xfrm>
          <a:prstGeom prst="ellipse">
            <a:avLst/>
          </a:prstGeom>
          <a:solidFill>
            <a:srgbClr val="FFFFFF">
              <a:alpha val="18000"/>
            </a:srgbClr>
          </a:solidFill>
          <a:ln w="12700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156448" y="685800"/>
            <a:ext cx="54864" cy="54864"/>
          </a:xfrm>
          <a:prstGeom prst="ellipse">
            <a:avLst/>
          </a:prstGeom>
          <a:solidFill>
            <a:srgbClr val="FFFFFF">
              <a:alpha val="18000"/>
            </a:srgbClr>
          </a:solidFill>
          <a:ln w="12700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458200" y="685800"/>
            <a:ext cx="54864" cy="54864"/>
          </a:xfrm>
          <a:prstGeom prst="ellipse">
            <a:avLst/>
          </a:prstGeom>
          <a:solidFill>
            <a:srgbClr val="FFFFFF">
              <a:alpha val="18000"/>
            </a:srgbClr>
          </a:solidFill>
          <a:ln w="12700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759952" y="685800"/>
            <a:ext cx="54864" cy="54864"/>
          </a:xfrm>
          <a:prstGeom prst="ellipse">
            <a:avLst/>
          </a:prstGeom>
          <a:solidFill>
            <a:srgbClr val="FFFFFF">
              <a:alpha val="18000"/>
            </a:srgbClr>
          </a:solidFill>
          <a:ln w="12700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949440" y="1143000"/>
            <a:ext cx="54864" cy="54864"/>
          </a:xfrm>
          <a:prstGeom prst="ellipse">
            <a:avLst/>
          </a:prstGeom>
          <a:solidFill>
            <a:srgbClr val="FFFFFF">
              <a:alpha val="18000"/>
            </a:srgbClr>
          </a:solidFill>
          <a:ln w="12700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251192" y="1143000"/>
            <a:ext cx="54864" cy="54864"/>
          </a:xfrm>
          <a:prstGeom prst="ellipse">
            <a:avLst/>
          </a:prstGeom>
          <a:solidFill>
            <a:srgbClr val="FFFFFF">
              <a:alpha val="18000"/>
            </a:srgbClr>
          </a:solidFill>
          <a:ln w="12700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552944" y="1143000"/>
            <a:ext cx="54864" cy="54864"/>
          </a:xfrm>
          <a:prstGeom prst="ellipse">
            <a:avLst/>
          </a:prstGeom>
          <a:solidFill>
            <a:srgbClr val="FFFFFF">
              <a:alpha val="18000"/>
            </a:srgbClr>
          </a:solidFill>
          <a:ln w="12700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854696" y="1143000"/>
            <a:ext cx="54864" cy="54864"/>
          </a:xfrm>
          <a:prstGeom prst="ellipse">
            <a:avLst/>
          </a:prstGeom>
          <a:solidFill>
            <a:srgbClr val="FFFFFF">
              <a:alpha val="18000"/>
            </a:srgbClr>
          </a:solidFill>
          <a:ln w="12700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156448" y="1143000"/>
            <a:ext cx="54864" cy="54864"/>
          </a:xfrm>
          <a:prstGeom prst="ellipse">
            <a:avLst/>
          </a:prstGeom>
          <a:solidFill>
            <a:srgbClr val="FFFFFF">
              <a:alpha val="18000"/>
            </a:srgbClr>
          </a:solidFill>
          <a:ln w="12700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458200" y="1143000"/>
            <a:ext cx="54864" cy="54864"/>
          </a:xfrm>
          <a:prstGeom prst="ellipse">
            <a:avLst/>
          </a:prstGeom>
          <a:solidFill>
            <a:srgbClr val="FFFFFF">
              <a:alpha val="18000"/>
            </a:srgbClr>
          </a:solidFill>
          <a:ln w="12700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759952" y="1143000"/>
            <a:ext cx="54864" cy="54864"/>
          </a:xfrm>
          <a:prstGeom prst="ellipse">
            <a:avLst/>
          </a:prstGeom>
          <a:solidFill>
            <a:srgbClr val="FFFFFF">
              <a:alpha val="18000"/>
            </a:srgbClr>
          </a:solidFill>
          <a:ln w="12700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949440" y="1600200"/>
            <a:ext cx="54864" cy="54864"/>
          </a:xfrm>
          <a:prstGeom prst="ellipse">
            <a:avLst/>
          </a:prstGeom>
          <a:solidFill>
            <a:srgbClr val="FFFFFF">
              <a:alpha val="18000"/>
            </a:srgbClr>
          </a:solidFill>
          <a:ln w="12700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251192" y="1600200"/>
            <a:ext cx="54864" cy="54864"/>
          </a:xfrm>
          <a:prstGeom prst="ellipse">
            <a:avLst/>
          </a:prstGeom>
          <a:solidFill>
            <a:srgbClr val="FFFFFF">
              <a:alpha val="18000"/>
            </a:srgbClr>
          </a:solidFill>
          <a:ln w="12700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552944" y="1600200"/>
            <a:ext cx="54864" cy="54864"/>
          </a:xfrm>
          <a:prstGeom prst="ellipse">
            <a:avLst/>
          </a:prstGeom>
          <a:solidFill>
            <a:srgbClr val="FFFFFF">
              <a:alpha val="18000"/>
            </a:srgbClr>
          </a:solidFill>
          <a:ln w="12700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854696" y="1600200"/>
            <a:ext cx="54864" cy="54864"/>
          </a:xfrm>
          <a:prstGeom prst="ellipse">
            <a:avLst/>
          </a:prstGeom>
          <a:solidFill>
            <a:srgbClr val="FFFFFF">
              <a:alpha val="18000"/>
            </a:srgbClr>
          </a:solidFill>
          <a:ln w="12700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56448" y="1600200"/>
            <a:ext cx="54864" cy="54864"/>
          </a:xfrm>
          <a:prstGeom prst="ellipse">
            <a:avLst/>
          </a:prstGeom>
          <a:solidFill>
            <a:srgbClr val="FFFFFF">
              <a:alpha val="18000"/>
            </a:srgbClr>
          </a:solidFill>
          <a:ln w="12700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458200" y="1600200"/>
            <a:ext cx="54864" cy="54864"/>
          </a:xfrm>
          <a:prstGeom prst="ellipse">
            <a:avLst/>
          </a:prstGeom>
          <a:solidFill>
            <a:srgbClr val="FFFFFF">
              <a:alpha val="18000"/>
            </a:srgbClr>
          </a:solidFill>
          <a:ln w="12700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759952" y="1600200"/>
            <a:ext cx="54864" cy="54864"/>
          </a:xfrm>
          <a:prstGeom prst="ellipse">
            <a:avLst/>
          </a:prstGeom>
          <a:solidFill>
            <a:srgbClr val="FFFFFF">
              <a:alpha val="18000"/>
            </a:srgbClr>
          </a:solidFill>
          <a:ln w="12700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949440" y="2057400"/>
            <a:ext cx="54864" cy="54864"/>
          </a:xfrm>
          <a:prstGeom prst="ellipse">
            <a:avLst/>
          </a:prstGeom>
          <a:solidFill>
            <a:srgbClr val="FFFFFF">
              <a:alpha val="18000"/>
            </a:srgbClr>
          </a:solidFill>
          <a:ln w="12700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251192" y="2057400"/>
            <a:ext cx="54864" cy="54864"/>
          </a:xfrm>
          <a:prstGeom prst="ellipse">
            <a:avLst/>
          </a:prstGeom>
          <a:solidFill>
            <a:srgbClr val="FFFFFF">
              <a:alpha val="18000"/>
            </a:srgbClr>
          </a:solidFill>
          <a:ln w="12700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552944" y="2057400"/>
            <a:ext cx="54864" cy="54864"/>
          </a:xfrm>
          <a:prstGeom prst="ellipse">
            <a:avLst/>
          </a:prstGeom>
          <a:solidFill>
            <a:srgbClr val="FFFFFF">
              <a:alpha val="18000"/>
            </a:srgbClr>
          </a:solidFill>
          <a:ln w="12700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854696" y="2057400"/>
            <a:ext cx="54864" cy="54864"/>
          </a:xfrm>
          <a:prstGeom prst="ellipse">
            <a:avLst/>
          </a:prstGeom>
          <a:solidFill>
            <a:srgbClr val="FFFFFF">
              <a:alpha val="18000"/>
            </a:srgbClr>
          </a:solidFill>
          <a:ln w="12700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156448" y="2057400"/>
            <a:ext cx="54864" cy="54864"/>
          </a:xfrm>
          <a:prstGeom prst="ellipse">
            <a:avLst/>
          </a:prstGeom>
          <a:solidFill>
            <a:srgbClr val="FFFFFF">
              <a:alpha val="18000"/>
            </a:srgbClr>
          </a:solidFill>
          <a:ln w="12700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458200" y="2057400"/>
            <a:ext cx="54864" cy="54864"/>
          </a:xfrm>
          <a:prstGeom prst="ellipse">
            <a:avLst/>
          </a:prstGeom>
          <a:solidFill>
            <a:srgbClr val="FFFFFF">
              <a:alpha val="18000"/>
            </a:srgbClr>
          </a:solidFill>
          <a:ln w="12700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759952" y="2057400"/>
            <a:ext cx="54864" cy="54864"/>
          </a:xfrm>
          <a:prstGeom prst="ellipse">
            <a:avLst/>
          </a:prstGeom>
          <a:solidFill>
            <a:srgbClr val="FFFFFF">
              <a:alpha val="18000"/>
            </a:srgbClr>
          </a:solidFill>
          <a:ln w="12700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949440" y="2514600"/>
            <a:ext cx="54864" cy="54864"/>
          </a:xfrm>
          <a:prstGeom prst="ellipse">
            <a:avLst/>
          </a:prstGeom>
          <a:solidFill>
            <a:srgbClr val="FFFFFF">
              <a:alpha val="18000"/>
            </a:srgbClr>
          </a:solidFill>
          <a:ln w="12700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7251192" y="2514600"/>
            <a:ext cx="54864" cy="54864"/>
          </a:xfrm>
          <a:prstGeom prst="ellipse">
            <a:avLst/>
          </a:prstGeom>
          <a:solidFill>
            <a:srgbClr val="FFFFFF">
              <a:alpha val="18000"/>
            </a:srgbClr>
          </a:solidFill>
          <a:ln w="12700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7552944" y="2514600"/>
            <a:ext cx="54864" cy="54864"/>
          </a:xfrm>
          <a:prstGeom prst="ellipse">
            <a:avLst/>
          </a:prstGeom>
          <a:solidFill>
            <a:srgbClr val="FFFFFF">
              <a:alpha val="18000"/>
            </a:srgbClr>
          </a:solidFill>
          <a:ln w="12700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7854696" y="2514600"/>
            <a:ext cx="54864" cy="54864"/>
          </a:xfrm>
          <a:prstGeom prst="ellipse">
            <a:avLst/>
          </a:prstGeom>
          <a:solidFill>
            <a:srgbClr val="FFFFFF">
              <a:alpha val="18000"/>
            </a:srgbClr>
          </a:solidFill>
          <a:ln w="12700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8156448" y="2514600"/>
            <a:ext cx="54864" cy="54864"/>
          </a:xfrm>
          <a:prstGeom prst="ellipse">
            <a:avLst/>
          </a:prstGeom>
          <a:solidFill>
            <a:srgbClr val="FFFFFF">
              <a:alpha val="18000"/>
            </a:srgbClr>
          </a:solidFill>
          <a:ln w="12700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8458200" y="2514600"/>
            <a:ext cx="54864" cy="54864"/>
          </a:xfrm>
          <a:prstGeom prst="ellipse">
            <a:avLst/>
          </a:prstGeom>
          <a:solidFill>
            <a:srgbClr val="FFFFFF">
              <a:alpha val="18000"/>
            </a:srgbClr>
          </a:solidFill>
          <a:ln w="12700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8759952" y="2514600"/>
            <a:ext cx="54864" cy="54864"/>
          </a:xfrm>
          <a:prstGeom prst="ellipse">
            <a:avLst/>
          </a:prstGeom>
          <a:solidFill>
            <a:srgbClr val="FFFFFF">
              <a:alpha val="18000"/>
            </a:srgbClr>
          </a:solidFill>
          <a:ln w="12700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949440" y="2971800"/>
            <a:ext cx="54864" cy="54864"/>
          </a:xfrm>
          <a:prstGeom prst="ellipse">
            <a:avLst/>
          </a:prstGeom>
          <a:solidFill>
            <a:srgbClr val="FFFFFF">
              <a:alpha val="18000"/>
            </a:srgbClr>
          </a:solidFill>
          <a:ln w="12700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7251192" y="2971800"/>
            <a:ext cx="54864" cy="54864"/>
          </a:xfrm>
          <a:prstGeom prst="ellipse">
            <a:avLst/>
          </a:prstGeom>
          <a:solidFill>
            <a:srgbClr val="FFFFFF">
              <a:alpha val="18000"/>
            </a:srgbClr>
          </a:solidFill>
          <a:ln w="12700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552944" y="2971800"/>
            <a:ext cx="54864" cy="54864"/>
          </a:xfrm>
          <a:prstGeom prst="ellipse">
            <a:avLst/>
          </a:prstGeom>
          <a:solidFill>
            <a:srgbClr val="FFFFFF">
              <a:alpha val="18000"/>
            </a:srgbClr>
          </a:solidFill>
          <a:ln w="12700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7854696" y="2971800"/>
            <a:ext cx="54864" cy="54864"/>
          </a:xfrm>
          <a:prstGeom prst="ellipse">
            <a:avLst/>
          </a:prstGeom>
          <a:solidFill>
            <a:srgbClr val="FFFFFF">
              <a:alpha val="18000"/>
            </a:srgbClr>
          </a:solidFill>
          <a:ln w="12700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8156448" y="2971800"/>
            <a:ext cx="54864" cy="54864"/>
          </a:xfrm>
          <a:prstGeom prst="ellipse">
            <a:avLst/>
          </a:prstGeom>
          <a:solidFill>
            <a:srgbClr val="FFFFFF">
              <a:alpha val="18000"/>
            </a:srgbClr>
          </a:solidFill>
          <a:ln w="12700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8458200" y="2971800"/>
            <a:ext cx="54864" cy="54864"/>
          </a:xfrm>
          <a:prstGeom prst="ellipse">
            <a:avLst/>
          </a:prstGeom>
          <a:solidFill>
            <a:srgbClr val="FFFFFF">
              <a:alpha val="18000"/>
            </a:srgbClr>
          </a:solidFill>
          <a:ln w="12700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8759952" y="2971800"/>
            <a:ext cx="54864" cy="54864"/>
          </a:xfrm>
          <a:prstGeom prst="ellipse">
            <a:avLst/>
          </a:prstGeom>
          <a:solidFill>
            <a:srgbClr val="FFFFFF">
              <a:alpha val="18000"/>
            </a:srgbClr>
          </a:solidFill>
          <a:ln w="12700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6949440" y="3429000"/>
            <a:ext cx="54864" cy="54864"/>
          </a:xfrm>
          <a:prstGeom prst="ellipse">
            <a:avLst/>
          </a:prstGeom>
          <a:solidFill>
            <a:srgbClr val="FFFFFF">
              <a:alpha val="18000"/>
            </a:srgbClr>
          </a:solidFill>
          <a:ln w="12700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7251192" y="3429000"/>
            <a:ext cx="54864" cy="54864"/>
          </a:xfrm>
          <a:prstGeom prst="ellipse">
            <a:avLst/>
          </a:prstGeom>
          <a:solidFill>
            <a:srgbClr val="FFFFFF">
              <a:alpha val="18000"/>
            </a:srgbClr>
          </a:solidFill>
          <a:ln w="12700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7552944" y="3429000"/>
            <a:ext cx="54864" cy="54864"/>
          </a:xfrm>
          <a:prstGeom prst="ellipse">
            <a:avLst/>
          </a:prstGeom>
          <a:solidFill>
            <a:srgbClr val="FFFFFF">
              <a:alpha val="18000"/>
            </a:srgbClr>
          </a:solidFill>
          <a:ln w="12700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7854696" y="3429000"/>
            <a:ext cx="54864" cy="54864"/>
          </a:xfrm>
          <a:prstGeom prst="ellipse">
            <a:avLst/>
          </a:prstGeom>
          <a:solidFill>
            <a:srgbClr val="FFFFFF">
              <a:alpha val="18000"/>
            </a:srgbClr>
          </a:solidFill>
          <a:ln w="12700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8156448" y="3429000"/>
            <a:ext cx="54864" cy="54864"/>
          </a:xfrm>
          <a:prstGeom prst="ellipse">
            <a:avLst/>
          </a:prstGeom>
          <a:solidFill>
            <a:srgbClr val="FFFFFF">
              <a:alpha val="18000"/>
            </a:srgbClr>
          </a:solidFill>
          <a:ln w="12700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8458200" y="3429000"/>
            <a:ext cx="54864" cy="54864"/>
          </a:xfrm>
          <a:prstGeom prst="ellipse">
            <a:avLst/>
          </a:prstGeom>
          <a:solidFill>
            <a:srgbClr val="FFFFFF">
              <a:alpha val="18000"/>
            </a:srgbClr>
          </a:solidFill>
          <a:ln w="12700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8759952" y="3429000"/>
            <a:ext cx="54864" cy="54864"/>
          </a:xfrm>
          <a:prstGeom prst="ellipse">
            <a:avLst/>
          </a:prstGeom>
          <a:solidFill>
            <a:srgbClr val="FFFFFF">
              <a:alpha val="18000"/>
            </a:srgbClr>
          </a:solidFill>
          <a:ln w="12700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6949440" y="3886200"/>
            <a:ext cx="54864" cy="54864"/>
          </a:xfrm>
          <a:prstGeom prst="ellipse">
            <a:avLst/>
          </a:prstGeom>
          <a:solidFill>
            <a:srgbClr val="FFFFFF">
              <a:alpha val="18000"/>
            </a:srgbClr>
          </a:solidFill>
          <a:ln w="12700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7251192" y="3886200"/>
            <a:ext cx="54864" cy="54864"/>
          </a:xfrm>
          <a:prstGeom prst="ellipse">
            <a:avLst/>
          </a:prstGeom>
          <a:solidFill>
            <a:srgbClr val="FFFFFF">
              <a:alpha val="18000"/>
            </a:srgbClr>
          </a:solidFill>
          <a:ln w="12700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7552944" y="3886200"/>
            <a:ext cx="54864" cy="54864"/>
          </a:xfrm>
          <a:prstGeom prst="ellipse">
            <a:avLst/>
          </a:prstGeom>
          <a:solidFill>
            <a:srgbClr val="FFFFFF">
              <a:alpha val="18000"/>
            </a:srgbClr>
          </a:solidFill>
          <a:ln w="12700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7854696" y="3886200"/>
            <a:ext cx="54864" cy="54864"/>
          </a:xfrm>
          <a:prstGeom prst="ellipse">
            <a:avLst/>
          </a:prstGeom>
          <a:solidFill>
            <a:srgbClr val="FFFFFF">
              <a:alpha val="18000"/>
            </a:srgbClr>
          </a:solidFill>
          <a:ln w="12700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8156448" y="3886200"/>
            <a:ext cx="54864" cy="54864"/>
          </a:xfrm>
          <a:prstGeom prst="ellipse">
            <a:avLst/>
          </a:prstGeom>
          <a:solidFill>
            <a:srgbClr val="FFFFFF">
              <a:alpha val="18000"/>
            </a:srgbClr>
          </a:solidFill>
          <a:ln w="12700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8458200" y="3886200"/>
            <a:ext cx="54864" cy="54864"/>
          </a:xfrm>
          <a:prstGeom prst="ellipse">
            <a:avLst/>
          </a:prstGeom>
          <a:solidFill>
            <a:srgbClr val="FFFFFF">
              <a:alpha val="18000"/>
            </a:srgbClr>
          </a:solidFill>
          <a:ln w="12700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8759952" y="3886200"/>
            <a:ext cx="54864" cy="54864"/>
          </a:xfrm>
          <a:prstGeom prst="ellipse">
            <a:avLst/>
          </a:prstGeom>
          <a:solidFill>
            <a:srgbClr val="FFFFFF">
              <a:alpha val="18000"/>
            </a:srgbClr>
          </a:solidFill>
          <a:ln w="12700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347472" y="2450592"/>
            <a:ext cx="4754880" cy="4114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347472" y="822960"/>
            <a:ext cx="6400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服装独立站出海</a:t>
            </a:r>
            <a:endParaRPr lang="en-US" sz="4400" dirty="0"/>
          </a:p>
        </p:txBody>
      </p:sp>
      <p:sp>
        <p:nvSpPr>
          <p:cNvPr id="68" name="Text 66"/>
          <p:cNvSpPr/>
          <p:nvPr/>
        </p:nvSpPr>
        <p:spPr>
          <a:xfrm>
            <a:off x="347472" y="1691640"/>
            <a:ext cx="6400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一期全局执行方案</a:t>
            </a:r>
            <a:endParaRPr lang="en-US" sz="2800" dirty="0"/>
          </a:p>
        </p:txBody>
      </p:sp>
      <p:sp>
        <p:nvSpPr>
          <p:cNvPr id="69" name="Text 67"/>
          <p:cNvSpPr/>
          <p:nvPr/>
        </p:nvSpPr>
        <p:spPr>
          <a:xfrm>
            <a:off x="347472" y="2578608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spc="150" kern="0" dirty="0">
                <a:solidFill>
                  <a:srgbClr val="707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工厂背景  ·  POD定制  ·  全球市场  ·  1–2月成交目标</a:t>
            </a:r>
            <a:endParaRPr lang="en-US" sz="1200" dirty="0"/>
          </a:p>
        </p:txBody>
      </p:sp>
      <p:sp>
        <p:nvSpPr>
          <p:cNvPr id="70" name="Shape 68"/>
          <p:cNvSpPr/>
          <p:nvPr/>
        </p:nvSpPr>
        <p:spPr>
          <a:xfrm>
            <a:off x="347472" y="3611880"/>
            <a:ext cx="2011680" cy="1188720"/>
          </a:xfrm>
          <a:prstGeom prst="rect">
            <a:avLst/>
          </a:prstGeom>
          <a:solidFill>
            <a:srgbClr val="2A2C2E"/>
          </a:solidFill>
          <a:ln w="12700">
            <a:solidFill>
              <a:srgbClr val="383838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347472" y="3611880"/>
            <a:ext cx="2011680" cy="5029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457200" y="3749040"/>
            <a:ext cx="179222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1–2个月</a:t>
            </a:r>
            <a:endParaRPr lang="en-US" sz="1700" dirty="0"/>
          </a:p>
        </p:txBody>
      </p:sp>
      <p:sp>
        <p:nvSpPr>
          <p:cNvPr id="73" name="Text 71"/>
          <p:cNvSpPr/>
          <p:nvPr/>
        </p:nvSpPr>
        <p:spPr>
          <a:xfrm>
            <a:off x="457200" y="4251960"/>
            <a:ext cx="17922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首单目标</a:t>
            </a:r>
            <a:endParaRPr lang="en-US" sz="1050" dirty="0"/>
          </a:p>
        </p:txBody>
      </p:sp>
      <p:sp>
        <p:nvSpPr>
          <p:cNvPr id="74" name="Shape 72"/>
          <p:cNvSpPr/>
          <p:nvPr/>
        </p:nvSpPr>
        <p:spPr>
          <a:xfrm>
            <a:off x="2542032" y="3611880"/>
            <a:ext cx="2011680" cy="1188720"/>
          </a:xfrm>
          <a:prstGeom prst="rect">
            <a:avLst/>
          </a:prstGeom>
          <a:solidFill>
            <a:srgbClr val="2A2C2E"/>
          </a:solidFill>
          <a:ln w="12700">
            <a:solidFill>
              <a:srgbClr val="383838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2542032" y="3611880"/>
            <a:ext cx="2011680" cy="5029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2651760" y="3749040"/>
            <a:ext cx="179222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POD 定制</a:t>
            </a:r>
            <a:endParaRPr lang="en-US" sz="1700" dirty="0"/>
          </a:p>
        </p:txBody>
      </p:sp>
      <p:sp>
        <p:nvSpPr>
          <p:cNvPr id="77" name="Text 75"/>
          <p:cNvSpPr/>
          <p:nvPr/>
        </p:nvSpPr>
        <p:spPr>
          <a:xfrm>
            <a:off x="2651760" y="4251960"/>
            <a:ext cx="17922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主打模式</a:t>
            </a:r>
            <a:endParaRPr lang="en-US" sz="1050" dirty="0"/>
          </a:p>
        </p:txBody>
      </p:sp>
      <p:sp>
        <p:nvSpPr>
          <p:cNvPr id="78" name="Shape 76"/>
          <p:cNvSpPr/>
          <p:nvPr/>
        </p:nvSpPr>
        <p:spPr>
          <a:xfrm>
            <a:off x="4736592" y="3611880"/>
            <a:ext cx="2011680" cy="1188720"/>
          </a:xfrm>
          <a:prstGeom prst="rect">
            <a:avLst/>
          </a:prstGeom>
          <a:solidFill>
            <a:srgbClr val="2A2C2E"/>
          </a:solidFill>
          <a:ln w="12700">
            <a:solidFill>
              <a:srgbClr val="383838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4736592" y="3611880"/>
            <a:ext cx="2011680" cy="5029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4846320" y="3749040"/>
            <a:ext cx="179222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工厂直营</a:t>
            </a:r>
            <a:endParaRPr lang="en-US" sz="1700" dirty="0"/>
          </a:p>
        </p:txBody>
      </p:sp>
      <p:sp>
        <p:nvSpPr>
          <p:cNvPr id="81" name="Text 79"/>
          <p:cNvSpPr/>
          <p:nvPr/>
        </p:nvSpPr>
        <p:spPr>
          <a:xfrm>
            <a:off x="4846320" y="4251960"/>
            <a:ext cx="17922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供应链优势</a:t>
            </a:r>
            <a:endParaRPr lang="en-US" sz="1050" dirty="0"/>
          </a:p>
        </p:txBody>
      </p:sp>
      <p:sp>
        <p:nvSpPr>
          <p:cNvPr id="82" name="Shape 80"/>
          <p:cNvSpPr/>
          <p:nvPr/>
        </p:nvSpPr>
        <p:spPr>
          <a:xfrm>
            <a:off x="6931152" y="3611880"/>
            <a:ext cx="2011680" cy="1188720"/>
          </a:xfrm>
          <a:prstGeom prst="rect">
            <a:avLst/>
          </a:prstGeom>
          <a:solidFill>
            <a:srgbClr val="2A2C2E"/>
          </a:solidFill>
          <a:ln w="12700">
            <a:solidFill>
              <a:srgbClr val="383838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6931152" y="3611880"/>
            <a:ext cx="2011680" cy="5029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7040880" y="3749040"/>
            <a:ext cx="179222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全球市场</a:t>
            </a:r>
            <a:endParaRPr lang="en-US" sz="1700" dirty="0"/>
          </a:p>
        </p:txBody>
      </p:sp>
      <p:sp>
        <p:nvSpPr>
          <p:cNvPr id="85" name="Text 83"/>
          <p:cNvSpPr/>
          <p:nvPr/>
        </p:nvSpPr>
        <p:spPr>
          <a:xfrm>
            <a:off x="7040880" y="4251960"/>
            <a:ext cx="17922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目标范围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82296" cy="53035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384048"/>
            <a:ext cx="5486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项目核心定位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58368" y="886968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50" kern="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POSITIONING OVERVIEW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388620" y="1303020"/>
            <a:ext cx="1938528" cy="3520440"/>
          </a:xfrm>
          <a:prstGeom prst="rect">
            <a:avLst/>
          </a:prstGeom>
          <a:solidFill>
            <a:srgbClr val="000000">
              <a:alpha val="8000"/>
            </a:srgbClr>
          </a:solidFill>
          <a:ln w="12700">
            <a:solidFill>
              <a:srgbClr val="F0F0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47472" y="1261872"/>
            <a:ext cx="1938528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47472" y="1261872"/>
            <a:ext cx="1938528" cy="10058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50976" y="1417320"/>
            <a:ext cx="713232" cy="713232"/>
          </a:xfrm>
          <a:prstGeom prst="ellipse">
            <a:avLst/>
          </a:prstGeom>
          <a:solidFill>
            <a:srgbClr val="D97706">
              <a:alpha val="14000"/>
            </a:srgbClr>
          </a:solidFill>
          <a:ln w="12700">
            <a:solidFill>
              <a:srgbClr val="D97706">
                <a:alpha val="28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2240280"/>
            <a:ext cx="17556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供应链背景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38912" y="2633472"/>
            <a:ext cx="17556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spc="1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CHAIN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768096" y="2944368"/>
            <a:ext cx="1097280" cy="22860"/>
          </a:xfrm>
          <a:prstGeom prst="rect">
            <a:avLst/>
          </a:prstGeom>
          <a:solidFill>
            <a:srgbClr val="E0E0E0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30352" y="3182112"/>
            <a:ext cx="82296" cy="82296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67512" y="3044952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4A4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工厂直营资源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30352" y="3593592"/>
            <a:ext cx="82296" cy="82296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67512" y="3456432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4A4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生产弹性高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30352" y="4005072"/>
            <a:ext cx="82296" cy="82296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67512" y="3867912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4A4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品控掌握在手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30352" y="4416552"/>
            <a:ext cx="82296" cy="82296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67512" y="4279392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4A4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成本优势显著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2537460" y="1303020"/>
            <a:ext cx="1938528" cy="3520440"/>
          </a:xfrm>
          <a:prstGeom prst="rect">
            <a:avLst/>
          </a:prstGeom>
          <a:solidFill>
            <a:srgbClr val="000000">
              <a:alpha val="8000"/>
            </a:srgbClr>
          </a:solidFill>
          <a:ln w="12700">
            <a:solidFill>
              <a:srgbClr val="F0F0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496312" y="1261872"/>
            <a:ext cx="1938528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496312" y="1261872"/>
            <a:ext cx="1938528" cy="100584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099816" y="1417320"/>
            <a:ext cx="713232" cy="713232"/>
          </a:xfrm>
          <a:prstGeom prst="ellipse">
            <a:avLst/>
          </a:prstGeom>
          <a:solidFill>
            <a:srgbClr val="1D4ED8">
              <a:alpha val="14000"/>
            </a:srgbClr>
          </a:solidFill>
          <a:ln w="12700">
            <a:solidFill>
              <a:srgbClr val="1D4ED8">
                <a:alpha val="28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587752" y="2240280"/>
            <a:ext cx="17556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定制能力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2587752" y="2633472"/>
            <a:ext cx="17556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spc="100" kern="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CAPABILITY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2916936" y="2944368"/>
            <a:ext cx="1097280" cy="22860"/>
          </a:xfrm>
          <a:prstGeom prst="rect">
            <a:avLst/>
          </a:prstGeom>
          <a:solidFill>
            <a:srgbClr val="E0E0E0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679192" y="3182112"/>
            <a:ext cx="82296" cy="82296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816352" y="3044952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4A4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OEM / ODM / POD 均可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2679192" y="3593592"/>
            <a:ext cx="82296" cy="82296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816352" y="3456432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4A4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灵活接受小批量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2679192" y="4005072"/>
            <a:ext cx="82296" cy="82296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816352" y="3867912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4A4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客户私标定制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2679192" y="4416552"/>
            <a:ext cx="82296" cy="82296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816352" y="4279392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4A4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可接受面料/款式定制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4686300" y="1303020"/>
            <a:ext cx="1938528" cy="3520440"/>
          </a:xfrm>
          <a:prstGeom prst="rect">
            <a:avLst/>
          </a:prstGeom>
          <a:solidFill>
            <a:srgbClr val="000000">
              <a:alpha val="8000"/>
            </a:srgbClr>
          </a:solidFill>
          <a:ln w="12700">
            <a:solidFill>
              <a:srgbClr val="F0F0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645152" y="1261872"/>
            <a:ext cx="1938528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645152" y="1261872"/>
            <a:ext cx="1938528" cy="100584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248656" y="1417320"/>
            <a:ext cx="713232" cy="713232"/>
          </a:xfrm>
          <a:prstGeom prst="ellipse">
            <a:avLst/>
          </a:prstGeom>
          <a:solidFill>
            <a:srgbClr val="16A34A">
              <a:alpha val="14000"/>
            </a:srgbClr>
          </a:solidFill>
          <a:ln w="12700">
            <a:solidFill>
              <a:srgbClr val="16A34A">
                <a:alpha val="2800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736592" y="2240280"/>
            <a:ext cx="17556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目标市场</a:t>
            </a:r>
            <a:endParaRPr lang="en-US" sz="1500" dirty="0"/>
          </a:p>
        </p:txBody>
      </p:sp>
      <p:sp>
        <p:nvSpPr>
          <p:cNvPr id="40" name="Text 38"/>
          <p:cNvSpPr/>
          <p:nvPr/>
        </p:nvSpPr>
        <p:spPr>
          <a:xfrm>
            <a:off x="4736592" y="2633472"/>
            <a:ext cx="17556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spc="100" kern="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MARKETS</a:t>
            </a:r>
            <a:endParaRPr lang="en-US" sz="750" dirty="0"/>
          </a:p>
        </p:txBody>
      </p:sp>
      <p:sp>
        <p:nvSpPr>
          <p:cNvPr id="41" name="Shape 39"/>
          <p:cNvSpPr/>
          <p:nvPr/>
        </p:nvSpPr>
        <p:spPr>
          <a:xfrm>
            <a:off x="5065776" y="2944368"/>
            <a:ext cx="1097280" cy="22860"/>
          </a:xfrm>
          <a:prstGeom prst="rect">
            <a:avLst/>
          </a:prstGeom>
          <a:solidFill>
            <a:srgbClr val="E0E0E0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828032" y="3182112"/>
            <a:ext cx="82296" cy="82296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965192" y="3044952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4A4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全球有需求即发展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4828032" y="3593592"/>
            <a:ext cx="82296" cy="82296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965192" y="3456432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4A4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美国 / 欧洲为主力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4828032" y="4005072"/>
            <a:ext cx="82296" cy="82296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965192" y="3867912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4A4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中东 / 拉美快速跟进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4828032" y="4416552"/>
            <a:ext cx="82296" cy="82296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965192" y="4279392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4A4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新兴市场同步布局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6835140" y="1303020"/>
            <a:ext cx="1938528" cy="3520440"/>
          </a:xfrm>
          <a:prstGeom prst="rect">
            <a:avLst/>
          </a:prstGeom>
          <a:solidFill>
            <a:srgbClr val="000000">
              <a:alpha val="8000"/>
            </a:srgbClr>
          </a:solidFill>
          <a:ln w="12700">
            <a:solidFill>
              <a:srgbClr val="F0F0F0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6793992" y="1261872"/>
            <a:ext cx="1938528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6793992" y="1261872"/>
            <a:ext cx="1938528" cy="10058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7397496" y="1417320"/>
            <a:ext cx="713232" cy="713232"/>
          </a:xfrm>
          <a:prstGeom prst="ellipse">
            <a:avLst/>
          </a:prstGeom>
          <a:solidFill>
            <a:srgbClr val="7C3AED">
              <a:alpha val="14000"/>
            </a:srgbClr>
          </a:solidFill>
          <a:ln w="12700">
            <a:solidFill>
              <a:srgbClr val="7C3AED">
                <a:alpha val="28000"/>
              </a:srgbClr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885432" y="2240280"/>
            <a:ext cx="17556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获客策略</a:t>
            </a:r>
            <a:endParaRPr lang="en-US" sz="1500" dirty="0"/>
          </a:p>
        </p:txBody>
      </p:sp>
      <p:sp>
        <p:nvSpPr>
          <p:cNvPr id="55" name="Text 53"/>
          <p:cNvSpPr/>
          <p:nvPr/>
        </p:nvSpPr>
        <p:spPr>
          <a:xfrm>
            <a:off x="6885432" y="2633472"/>
            <a:ext cx="17556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spc="10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ACQUISITION STRATEGY</a:t>
            </a:r>
            <a:endParaRPr lang="en-US" sz="750" dirty="0"/>
          </a:p>
        </p:txBody>
      </p:sp>
      <p:sp>
        <p:nvSpPr>
          <p:cNvPr id="56" name="Shape 54"/>
          <p:cNvSpPr/>
          <p:nvPr/>
        </p:nvSpPr>
        <p:spPr>
          <a:xfrm>
            <a:off x="7214616" y="2944368"/>
            <a:ext cx="1097280" cy="22860"/>
          </a:xfrm>
          <a:prstGeom prst="rect">
            <a:avLst/>
          </a:prstGeom>
          <a:solidFill>
            <a:srgbClr val="E0E0E0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6976872" y="3182112"/>
            <a:ext cx="82296" cy="8229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7114032" y="3044952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4A4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社媒矩阵 + KOL 合作</a:t>
            </a:r>
            <a:endParaRPr lang="en-US" sz="1050" dirty="0"/>
          </a:p>
        </p:txBody>
      </p:sp>
      <p:sp>
        <p:nvSpPr>
          <p:cNvPr id="59" name="Shape 57"/>
          <p:cNvSpPr/>
          <p:nvPr/>
        </p:nvSpPr>
        <p:spPr>
          <a:xfrm>
            <a:off x="6976872" y="3593592"/>
            <a:ext cx="82296" cy="8229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7114032" y="3456432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4A4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SEO 内容营销为主</a:t>
            </a:r>
            <a:endParaRPr lang="en-US" sz="1050" dirty="0"/>
          </a:p>
        </p:txBody>
      </p:sp>
      <p:sp>
        <p:nvSpPr>
          <p:cNvPr id="61" name="Shape 59"/>
          <p:cNvSpPr/>
          <p:nvPr/>
        </p:nvSpPr>
        <p:spPr>
          <a:xfrm>
            <a:off x="6976872" y="4005072"/>
            <a:ext cx="82296" cy="8229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7114032" y="3867912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4A4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独立站引流转化</a:t>
            </a:r>
            <a:endParaRPr lang="en-US" sz="1050" dirty="0"/>
          </a:p>
        </p:txBody>
      </p:sp>
      <p:sp>
        <p:nvSpPr>
          <p:cNvPr id="63" name="Shape 61"/>
          <p:cNvSpPr/>
          <p:nvPr/>
        </p:nvSpPr>
        <p:spPr>
          <a:xfrm>
            <a:off x="6976872" y="4416552"/>
            <a:ext cx="82296" cy="8229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7114032" y="4279392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4A4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少量精准付费投放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112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5486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一期执行路径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67665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15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EXECUTION PATH  ·  工厂背景服装 POD 独立站出海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256032" y="1051560"/>
            <a:ext cx="1591056" cy="3749040"/>
          </a:xfrm>
          <a:prstGeom prst="rect">
            <a:avLst/>
          </a:prstGeom>
          <a:solidFill>
            <a:srgbClr val="2A2C2E"/>
          </a:solidFill>
          <a:ln w="12700">
            <a:solidFill>
              <a:srgbClr val="35353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170432"/>
            <a:ext cx="1463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D9770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320040" y="1737360"/>
            <a:ext cx="1463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品牌基建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320040" y="2176272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07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Foundation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594360" y="2542032"/>
            <a:ext cx="914400" cy="22860"/>
          </a:xfrm>
          <a:prstGeom prst="rect">
            <a:avLst/>
          </a:prstGeom>
          <a:solidFill>
            <a:srgbClr val="404040"/>
          </a:solidFill>
          <a:ln w="12700">
            <a:solidFill>
              <a:srgbClr val="40404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260604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9770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W1–2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65760" y="3017520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09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命名/VI草案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65760" y="3474720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09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域名注册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65760" y="3931920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09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平台选型确认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1865376" y="2633472"/>
            <a:ext cx="109728" cy="36576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975104" y="2596896"/>
            <a:ext cx="36576" cy="10972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993392" y="1051560"/>
            <a:ext cx="1591056" cy="3749040"/>
          </a:xfrm>
          <a:prstGeom prst="rect">
            <a:avLst/>
          </a:prstGeom>
          <a:solidFill>
            <a:srgbClr val="2A2C2E"/>
          </a:solidFill>
          <a:ln w="12700">
            <a:solidFill>
              <a:srgbClr val="35353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057400" y="1170432"/>
            <a:ext cx="1463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D9770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2057400" y="1737360"/>
            <a:ext cx="1463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数字阵地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2057400" y="2176272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07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Presence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2331720" y="2542032"/>
            <a:ext cx="914400" cy="22860"/>
          </a:xfrm>
          <a:prstGeom prst="rect">
            <a:avLst/>
          </a:prstGeom>
          <a:solidFill>
            <a:srgbClr val="404040"/>
          </a:solidFill>
          <a:ln w="12700">
            <a:solidFill>
              <a:srgbClr val="40404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057400" y="260604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9770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W2–3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2103120" y="3017520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09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独立站搭建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2103120" y="3474720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09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社媒账号开通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2103120" y="3931920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09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主图拍摄完成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602736" y="2633472"/>
            <a:ext cx="109728" cy="36576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712464" y="2596896"/>
            <a:ext cx="36576" cy="10972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730752" y="1051560"/>
            <a:ext cx="1591056" cy="3749040"/>
          </a:xfrm>
          <a:prstGeom prst="rect">
            <a:avLst/>
          </a:prstGeom>
          <a:solidFill>
            <a:srgbClr val="2A2C2E"/>
          </a:solidFill>
          <a:ln w="12700">
            <a:solidFill>
              <a:srgbClr val="35353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794760" y="1170432"/>
            <a:ext cx="1463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D9770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3000" dirty="0"/>
          </a:p>
        </p:txBody>
      </p:sp>
      <p:sp>
        <p:nvSpPr>
          <p:cNvPr id="29" name="Text 27"/>
          <p:cNvSpPr/>
          <p:nvPr/>
        </p:nvSpPr>
        <p:spPr>
          <a:xfrm>
            <a:off x="3794760" y="1737360"/>
            <a:ext cx="1463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内容启动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3794760" y="2176272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07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Launch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4069080" y="2542032"/>
            <a:ext cx="914400" cy="22860"/>
          </a:xfrm>
          <a:prstGeom prst="rect">
            <a:avLst/>
          </a:prstGeom>
          <a:solidFill>
            <a:srgbClr val="404040"/>
          </a:solidFill>
          <a:ln w="12700">
            <a:solidFill>
              <a:srgbClr val="40404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794760" y="260604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9770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W3–5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840480" y="3017520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09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10+内容预备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840480" y="3474720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09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POD款设计稿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3840480" y="3931920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09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SEO基础优化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5340096" y="2633472"/>
            <a:ext cx="109728" cy="36576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449824" y="2596896"/>
            <a:ext cx="36576" cy="10972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468112" y="1051560"/>
            <a:ext cx="1591056" cy="3749040"/>
          </a:xfrm>
          <a:prstGeom prst="rect">
            <a:avLst/>
          </a:prstGeom>
          <a:solidFill>
            <a:srgbClr val="2A2C2E"/>
          </a:solidFill>
          <a:ln w="12700">
            <a:solidFill>
              <a:srgbClr val="35353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532120" y="1170432"/>
            <a:ext cx="1463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D9770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3000" dirty="0"/>
          </a:p>
        </p:txBody>
      </p:sp>
      <p:sp>
        <p:nvSpPr>
          <p:cNvPr id="40" name="Text 38"/>
          <p:cNvSpPr/>
          <p:nvPr/>
        </p:nvSpPr>
        <p:spPr>
          <a:xfrm>
            <a:off x="5532120" y="1737360"/>
            <a:ext cx="1463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主动触达</a:t>
            </a:r>
            <a:endParaRPr lang="en-US" sz="1800" dirty="0"/>
          </a:p>
        </p:txBody>
      </p:sp>
      <p:sp>
        <p:nvSpPr>
          <p:cNvPr id="41" name="Text 39"/>
          <p:cNvSpPr/>
          <p:nvPr/>
        </p:nvSpPr>
        <p:spPr>
          <a:xfrm>
            <a:off x="5532120" y="2176272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07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B2B Outreach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5806440" y="2542032"/>
            <a:ext cx="914400" cy="22860"/>
          </a:xfrm>
          <a:prstGeom prst="rect">
            <a:avLst/>
          </a:prstGeom>
          <a:solidFill>
            <a:srgbClr val="404040"/>
          </a:solidFill>
          <a:ln w="12700">
            <a:solidFill>
              <a:srgbClr val="40404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532120" y="260604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9770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W4–6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5577840" y="3017520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09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LinkedIn开发信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5577840" y="3474720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09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社媒持续发布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5577840" y="3931920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09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样品报价就绪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7077456" y="2633472"/>
            <a:ext cx="109728" cy="36576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7187184" y="2596896"/>
            <a:ext cx="36576" cy="10972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7205472" y="1051560"/>
            <a:ext cx="1591056" cy="3749040"/>
          </a:xfrm>
          <a:prstGeom prst="rect">
            <a:avLst/>
          </a:prstGeom>
          <a:solidFill>
            <a:srgbClr val="D97706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7269480" y="1170432"/>
            <a:ext cx="1463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3000" dirty="0"/>
          </a:p>
        </p:txBody>
      </p:sp>
      <p:sp>
        <p:nvSpPr>
          <p:cNvPr id="51" name="Text 49"/>
          <p:cNvSpPr/>
          <p:nvPr/>
        </p:nvSpPr>
        <p:spPr>
          <a:xfrm>
            <a:off x="7269480" y="1737360"/>
            <a:ext cx="1463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首单成交</a:t>
            </a:r>
            <a:endParaRPr lang="en-US" sz="1800" dirty="0"/>
          </a:p>
        </p:txBody>
      </p:sp>
      <p:sp>
        <p:nvSpPr>
          <p:cNvPr id="52" name="Text 50"/>
          <p:cNvSpPr/>
          <p:nvPr/>
        </p:nvSpPr>
        <p:spPr>
          <a:xfrm>
            <a:off x="7269480" y="2176272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E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Order Close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7543800" y="2542032"/>
            <a:ext cx="914400" cy="228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269480" y="260604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W6–8</a:t>
            </a:r>
            <a:endParaRPr lang="en-US" sz="1400" dirty="0"/>
          </a:p>
        </p:txBody>
      </p:sp>
      <p:sp>
        <p:nvSpPr>
          <p:cNvPr id="55" name="Text 53"/>
          <p:cNvSpPr/>
          <p:nvPr/>
        </p:nvSpPr>
        <p:spPr>
          <a:xfrm>
            <a:off x="7315200" y="3017520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E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询盘跟进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7315200" y="3474720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E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付款方式确认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7315200" y="3931920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E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首单交付完成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457200" y="48463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05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贯通式服装品类  ·  ToB小批量可接  ·  所有定制模式均支持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82296" cy="53035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347472"/>
            <a:ext cx="6400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五阶段任务分解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58368" y="859536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50" kern="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DETAILED TASK BREAKDOWN PER PHASE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347472" y="969264"/>
            <a:ext cx="8449056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47472" y="969264"/>
            <a:ext cx="530352" cy="749808"/>
          </a:xfrm>
          <a:prstGeom prst="rect">
            <a:avLst/>
          </a:prstGeom>
          <a:solidFill>
            <a:srgbClr val="111213"/>
          </a:solidFill>
          <a:ln w="12700">
            <a:solidFill>
              <a:srgbClr val="11121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7472" y="1069848"/>
            <a:ext cx="530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69264" y="1024128"/>
            <a:ext cx="1051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品牌基建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969264" y="1408176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W1–2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1993392" y="1097280"/>
            <a:ext cx="22860" cy="530352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148840" y="1161288"/>
            <a:ext cx="82296" cy="82296"/>
          </a:xfrm>
          <a:prstGeom prst="ellipse">
            <a:avLst/>
          </a:prstGeom>
          <a:solidFill>
            <a:srgbClr val="AAAAAA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95144" y="1097280"/>
            <a:ext cx="2788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4A4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品牌命名 + VI草案（Logo/配色）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257800" y="1161288"/>
            <a:ext cx="82296" cy="82296"/>
          </a:xfrm>
          <a:prstGeom prst="ellipse">
            <a:avLst/>
          </a:prstGeom>
          <a:solidFill>
            <a:srgbClr val="AAAAAA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04104" y="1097280"/>
            <a:ext cx="2788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4A4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注册.com域名（品牌专属）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2148840" y="1499616"/>
            <a:ext cx="82296" cy="82296"/>
          </a:xfrm>
          <a:prstGeom prst="ellipse">
            <a:avLst/>
          </a:prstGeom>
          <a:solidFill>
            <a:srgbClr val="AAAAAA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295144" y="1435608"/>
            <a:ext cx="2788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4A4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确认 Shopify 或 SHOPLAZZA 平台并开户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257800" y="1499616"/>
            <a:ext cx="82296" cy="82296"/>
          </a:xfrm>
          <a:prstGeom prst="ellipse">
            <a:avLst/>
          </a:prstGeom>
          <a:solidFill>
            <a:srgbClr val="AAAAAA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04104" y="1435608"/>
            <a:ext cx="2788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4A4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整理工厂背景资料、认证、产能数据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47472" y="1787652"/>
            <a:ext cx="8449056" cy="822960"/>
          </a:xfrm>
          <a:prstGeom prst="rect">
            <a:avLst/>
          </a:prstGeom>
          <a:solidFill>
            <a:srgbClr val="F8F8F6"/>
          </a:solidFill>
          <a:ln w="12700">
            <a:solidFill>
              <a:srgbClr val="E8E8E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47472" y="1787652"/>
            <a:ext cx="530352" cy="749808"/>
          </a:xfrm>
          <a:prstGeom prst="rect">
            <a:avLst/>
          </a:prstGeom>
          <a:solidFill>
            <a:srgbClr val="111213"/>
          </a:solidFill>
          <a:ln w="12700">
            <a:solidFill>
              <a:srgbClr val="11121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47472" y="1888236"/>
            <a:ext cx="530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969264" y="1842516"/>
            <a:ext cx="1051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数字阵地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969264" y="2226564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W2–3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1993392" y="1915668"/>
            <a:ext cx="22860" cy="530352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148840" y="1979676"/>
            <a:ext cx="82296" cy="82296"/>
          </a:xfrm>
          <a:prstGeom prst="ellipse">
            <a:avLst/>
          </a:prstGeom>
          <a:solidFill>
            <a:srgbClr val="AAAAAA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295144" y="1915668"/>
            <a:ext cx="2788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4A4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独立站首版上线（5大核心页面）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5257800" y="1979676"/>
            <a:ext cx="82296" cy="82296"/>
          </a:xfrm>
          <a:prstGeom prst="ellipse">
            <a:avLst/>
          </a:prstGeom>
          <a:solidFill>
            <a:srgbClr val="AAAAAA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404104" y="1915668"/>
            <a:ext cx="2788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4A4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Instagram / TikTok / LinkedIn 账号注册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2148840" y="2318004"/>
            <a:ext cx="82296" cy="82296"/>
          </a:xfrm>
          <a:prstGeom prst="ellipse">
            <a:avLst/>
          </a:prstGeom>
          <a:solidFill>
            <a:srgbClr val="AAAAAA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295144" y="2253996"/>
            <a:ext cx="2788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4A4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拍摄首批产品主图 + 工厂实拍素材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5257800" y="2318004"/>
            <a:ext cx="82296" cy="82296"/>
          </a:xfrm>
          <a:prstGeom prst="ellipse">
            <a:avLst/>
          </a:prstGeom>
          <a:solidFill>
            <a:srgbClr val="AAAAAA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404104" y="2253996"/>
            <a:ext cx="2788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4A4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设计 5–10 款 POD 样版设计稿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347472" y="2606040"/>
            <a:ext cx="8449056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4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47472" y="2606040"/>
            <a:ext cx="530352" cy="749808"/>
          </a:xfrm>
          <a:prstGeom prst="rect">
            <a:avLst/>
          </a:prstGeom>
          <a:solidFill>
            <a:srgbClr val="111213"/>
          </a:solidFill>
          <a:ln w="12700">
            <a:solidFill>
              <a:srgbClr val="11121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47472" y="2706624"/>
            <a:ext cx="530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969264" y="2660904"/>
            <a:ext cx="1051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内容启动</a:t>
            </a:r>
            <a:endParaRPr lang="en-US" sz="1450" dirty="0"/>
          </a:p>
        </p:txBody>
      </p:sp>
      <p:sp>
        <p:nvSpPr>
          <p:cNvPr id="37" name="Text 35"/>
          <p:cNvSpPr/>
          <p:nvPr/>
        </p:nvSpPr>
        <p:spPr>
          <a:xfrm>
            <a:off x="969264" y="304495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W3–5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1993392" y="2734056"/>
            <a:ext cx="22860" cy="530352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148840" y="2798064"/>
            <a:ext cx="82296" cy="82296"/>
          </a:xfrm>
          <a:prstGeom prst="ellipse">
            <a:avLst/>
          </a:prstGeom>
          <a:solidFill>
            <a:srgbClr val="AAAAAA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295144" y="2734056"/>
            <a:ext cx="2788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4A4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准备 10 条以上社媒内容（图文+短视频）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5257800" y="2798064"/>
            <a:ext cx="82296" cy="82296"/>
          </a:xfrm>
          <a:prstGeom prst="ellipse">
            <a:avLst/>
          </a:prstGeom>
          <a:solidFill>
            <a:srgbClr val="AAAAAA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404104" y="2734056"/>
            <a:ext cx="2788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4A4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完成 SEO 基础（meta / sitemap / Analytics）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2148840" y="3136392"/>
            <a:ext cx="82296" cy="82296"/>
          </a:xfrm>
          <a:prstGeom prst="ellipse">
            <a:avLst/>
          </a:prstGeom>
          <a:solidFill>
            <a:srgbClr val="AAAAAA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295144" y="3072384"/>
            <a:ext cx="2788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4A4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发布首篇品牌故事/工厂介绍内容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5257800" y="3136392"/>
            <a:ext cx="82296" cy="82296"/>
          </a:xfrm>
          <a:prstGeom prst="ellipse">
            <a:avLst/>
          </a:prstGeom>
          <a:solidFill>
            <a:srgbClr val="AAAAAA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404104" y="3072384"/>
            <a:ext cx="2788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4A4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建立报价单模板（样品 / 小批量 / 定制）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347472" y="3424428"/>
            <a:ext cx="8449056" cy="822960"/>
          </a:xfrm>
          <a:prstGeom prst="rect">
            <a:avLst/>
          </a:prstGeom>
          <a:solidFill>
            <a:srgbClr val="F8F8F6"/>
          </a:solidFill>
          <a:ln w="12700">
            <a:solidFill>
              <a:srgbClr val="E8E8E4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347472" y="3424428"/>
            <a:ext cx="530352" cy="749808"/>
          </a:xfrm>
          <a:prstGeom prst="rect">
            <a:avLst/>
          </a:prstGeom>
          <a:solidFill>
            <a:srgbClr val="111213"/>
          </a:solidFill>
          <a:ln w="12700">
            <a:solidFill>
              <a:srgbClr val="111213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47472" y="3525012"/>
            <a:ext cx="530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1500" dirty="0"/>
          </a:p>
        </p:txBody>
      </p:sp>
      <p:sp>
        <p:nvSpPr>
          <p:cNvPr id="50" name="Text 48"/>
          <p:cNvSpPr/>
          <p:nvPr/>
        </p:nvSpPr>
        <p:spPr>
          <a:xfrm>
            <a:off x="969264" y="3479292"/>
            <a:ext cx="1051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主动触达</a:t>
            </a:r>
            <a:endParaRPr lang="en-US" sz="1450" dirty="0"/>
          </a:p>
        </p:txBody>
      </p:sp>
      <p:sp>
        <p:nvSpPr>
          <p:cNvPr id="51" name="Text 49"/>
          <p:cNvSpPr/>
          <p:nvPr/>
        </p:nvSpPr>
        <p:spPr>
          <a:xfrm>
            <a:off x="969264" y="3863340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W4–6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1993392" y="3552444"/>
            <a:ext cx="22860" cy="530352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2148840" y="3616452"/>
            <a:ext cx="82296" cy="82296"/>
          </a:xfrm>
          <a:prstGeom prst="ellipse">
            <a:avLst/>
          </a:prstGeom>
          <a:solidFill>
            <a:srgbClr val="AAAAAA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2295144" y="3552444"/>
            <a:ext cx="2788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4A4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 精准搜索 50 个目标买家并发送开发信</a:t>
            </a:r>
            <a:endParaRPr lang="en-US" sz="1050" dirty="0"/>
          </a:p>
        </p:txBody>
      </p:sp>
      <p:sp>
        <p:nvSpPr>
          <p:cNvPr id="55" name="Shape 53"/>
          <p:cNvSpPr/>
          <p:nvPr/>
        </p:nvSpPr>
        <p:spPr>
          <a:xfrm>
            <a:off x="5257800" y="3616452"/>
            <a:ext cx="82296" cy="82296"/>
          </a:xfrm>
          <a:prstGeom prst="ellipse">
            <a:avLst/>
          </a:prstGeom>
          <a:solidFill>
            <a:srgbClr val="AAAAAA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5404104" y="3552444"/>
            <a:ext cx="2788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4A4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TikTok / INS 每周稳定发布 3+ 条内容</a:t>
            </a:r>
            <a:endParaRPr lang="en-US" sz="1050" dirty="0"/>
          </a:p>
        </p:txBody>
      </p:sp>
      <p:sp>
        <p:nvSpPr>
          <p:cNvPr id="57" name="Shape 55"/>
          <p:cNvSpPr/>
          <p:nvPr/>
        </p:nvSpPr>
        <p:spPr>
          <a:xfrm>
            <a:off x="2148840" y="3954780"/>
            <a:ext cx="82296" cy="82296"/>
          </a:xfrm>
          <a:prstGeom prst="ellipse">
            <a:avLst/>
          </a:prstGeom>
          <a:solidFill>
            <a:srgbClr val="AAAAAA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2295144" y="3890772"/>
            <a:ext cx="2788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4A4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跟进询盘并引导客户到独立站报价表单</a:t>
            </a:r>
            <a:endParaRPr lang="en-US" sz="1050" dirty="0"/>
          </a:p>
        </p:txBody>
      </p:sp>
      <p:sp>
        <p:nvSpPr>
          <p:cNvPr id="59" name="Shape 57"/>
          <p:cNvSpPr/>
          <p:nvPr/>
        </p:nvSpPr>
        <p:spPr>
          <a:xfrm>
            <a:off x="5257800" y="3954780"/>
            <a:ext cx="82296" cy="82296"/>
          </a:xfrm>
          <a:prstGeom prst="ellipse">
            <a:avLst/>
          </a:prstGeom>
          <a:solidFill>
            <a:srgbClr val="AAAAAA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5404104" y="3890772"/>
            <a:ext cx="2788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4A4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准备样品寄送流程（物流 + 确认单）</a:t>
            </a:r>
            <a:endParaRPr lang="en-US" sz="1050" dirty="0"/>
          </a:p>
        </p:txBody>
      </p:sp>
      <p:sp>
        <p:nvSpPr>
          <p:cNvPr id="61" name="Shape 59"/>
          <p:cNvSpPr/>
          <p:nvPr/>
        </p:nvSpPr>
        <p:spPr>
          <a:xfrm>
            <a:off x="347472" y="4242816"/>
            <a:ext cx="8449056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4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347472" y="4242816"/>
            <a:ext cx="530352" cy="749808"/>
          </a:xfrm>
          <a:prstGeom prst="rect">
            <a:avLst/>
          </a:prstGeom>
          <a:solidFill>
            <a:srgbClr val="D97706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347472" y="4343400"/>
            <a:ext cx="530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1500" dirty="0"/>
          </a:p>
        </p:txBody>
      </p:sp>
      <p:sp>
        <p:nvSpPr>
          <p:cNvPr id="64" name="Text 62"/>
          <p:cNvSpPr/>
          <p:nvPr/>
        </p:nvSpPr>
        <p:spPr>
          <a:xfrm>
            <a:off x="969264" y="4297680"/>
            <a:ext cx="1051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首单成交</a:t>
            </a:r>
            <a:endParaRPr lang="en-US" sz="1450" dirty="0"/>
          </a:p>
        </p:txBody>
      </p:sp>
      <p:sp>
        <p:nvSpPr>
          <p:cNvPr id="65" name="Text 63"/>
          <p:cNvSpPr/>
          <p:nvPr/>
        </p:nvSpPr>
        <p:spPr>
          <a:xfrm>
            <a:off x="969264" y="4681728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W6–8</a:t>
            </a:r>
            <a:endParaRPr lang="en-US" sz="950" dirty="0"/>
          </a:p>
        </p:txBody>
      </p:sp>
      <p:sp>
        <p:nvSpPr>
          <p:cNvPr id="66" name="Shape 64"/>
          <p:cNvSpPr/>
          <p:nvPr/>
        </p:nvSpPr>
        <p:spPr>
          <a:xfrm>
            <a:off x="1993392" y="4370832"/>
            <a:ext cx="22860" cy="530352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2148840" y="4434840"/>
            <a:ext cx="82296" cy="82296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2295144" y="4370832"/>
            <a:ext cx="2788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4A4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持续跟进意向客户，解答疑问</a:t>
            </a:r>
            <a:endParaRPr lang="en-US" sz="1050" dirty="0"/>
          </a:p>
        </p:txBody>
      </p:sp>
      <p:sp>
        <p:nvSpPr>
          <p:cNvPr id="69" name="Shape 67"/>
          <p:cNvSpPr/>
          <p:nvPr/>
        </p:nvSpPr>
        <p:spPr>
          <a:xfrm>
            <a:off x="5257800" y="4434840"/>
            <a:ext cx="82296" cy="82296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5404104" y="4370832"/>
            <a:ext cx="2788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4A4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确认付款方式（TT / PayPal / Wise）</a:t>
            </a:r>
            <a:endParaRPr lang="en-US" sz="1050" dirty="0"/>
          </a:p>
        </p:txBody>
      </p:sp>
      <p:sp>
        <p:nvSpPr>
          <p:cNvPr id="71" name="Shape 69"/>
          <p:cNvSpPr/>
          <p:nvPr/>
        </p:nvSpPr>
        <p:spPr>
          <a:xfrm>
            <a:off x="2148840" y="4773168"/>
            <a:ext cx="82296" cy="82296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2295144" y="4709160"/>
            <a:ext cx="2788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4A4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签署简版采购合同或 PI</a:t>
            </a:r>
            <a:endParaRPr lang="en-US" sz="1050" dirty="0"/>
          </a:p>
        </p:txBody>
      </p:sp>
      <p:sp>
        <p:nvSpPr>
          <p:cNvPr id="73" name="Shape 71"/>
          <p:cNvSpPr/>
          <p:nvPr/>
        </p:nvSpPr>
        <p:spPr>
          <a:xfrm>
            <a:off x="5257800" y="4773168"/>
            <a:ext cx="82296" cy="82296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5404104" y="4709160"/>
            <a:ext cx="2788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4A4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完成首单生产 + 物流交付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112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5486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时间表 · 时间轴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69494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15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8-WEEK EXECUTION TIMELINE  ·  目标：第6–8周内完成首单成交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498848" y="1051560"/>
            <a:ext cx="22860" cy="3840480"/>
          </a:xfrm>
          <a:prstGeom prst="rect">
            <a:avLst/>
          </a:prstGeom>
          <a:solidFill>
            <a:srgbClr val="303030"/>
          </a:solidFill>
          <a:ln w="12700">
            <a:solidFill>
              <a:srgbClr val="30303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7899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◀  第一个月  ▶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800600" y="107899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◀  第二个月  ▶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2761488"/>
            <a:ext cx="8229600" cy="64008"/>
          </a:xfrm>
          <a:prstGeom prst="rect">
            <a:avLst/>
          </a:prstGeom>
          <a:solidFill>
            <a:srgbClr val="3A3A3C"/>
          </a:solidFill>
          <a:ln w="12700">
            <a:solidFill>
              <a:srgbClr val="3A3A3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86968" y="2729484"/>
            <a:ext cx="182880" cy="182880"/>
          </a:xfrm>
          <a:prstGeom prst="ellipse">
            <a:avLst/>
          </a:prstGeom>
          <a:solidFill>
            <a:srgbClr val="4A4A4C"/>
          </a:solidFill>
          <a:ln w="12700">
            <a:solidFill>
              <a:srgbClr val="60606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73836" y="1554480"/>
            <a:ext cx="22860" cy="1170432"/>
          </a:xfrm>
          <a:prstGeom prst="rect">
            <a:avLst/>
          </a:prstGeom>
          <a:solidFill>
            <a:srgbClr val="3A3A3C"/>
          </a:solidFill>
          <a:ln w="12700">
            <a:solidFill>
              <a:srgbClr val="3A3A3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1207008"/>
            <a:ext cx="566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0909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W1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02920" y="1481328"/>
            <a:ext cx="9692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D0D0D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品牌命名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75488" y="1737360"/>
            <a:ext cx="10241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868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域名注册 / 平台选型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1911096" y="2729484"/>
            <a:ext cx="182880" cy="182880"/>
          </a:xfrm>
          <a:prstGeom prst="ellipse">
            <a:avLst/>
          </a:prstGeom>
          <a:solidFill>
            <a:srgbClr val="4A4A4C"/>
          </a:solidFill>
          <a:ln w="12700">
            <a:solidFill>
              <a:srgbClr val="60606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997964" y="2926080"/>
            <a:ext cx="22860" cy="1005840"/>
          </a:xfrm>
          <a:prstGeom prst="rect">
            <a:avLst/>
          </a:prstGeom>
          <a:solidFill>
            <a:srgbClr val="3A3A3C"/>
          </a:solidFill>
          <a:ln w="12700">
            <a:solidFill>
              <a:srgbClr val="3A3A3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755648" y="3977640"/>
            <a:ext cx="566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0909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W2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527048" y="3429000"/>
            <a:ext cx="9692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D0D0D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独立站搭建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1499616" y="3694176"/>
            <a:ext cx="10241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868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账号全部开通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2935224" y="2729484"/>
            <a:ext cx="182880" cy="182880"/>
          </a:xfrm>
          <a:prstGeom prst="ellipse">
            <a:avLst/>
          </a:prstGeom>
          <a:solidFill>
            <a:srgbClr val="4A4A4C"/>
          </a:solidFill>
          <a:ln w="12700">
            <a:solidFill>
              <a:srgbClr val="60606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022092" y="1554480"/>
            <a:ext cx="22860" cy="1170432"/>
          </a:xfrm>
          <a:prstGeom prst="rect">
            <a:avLst/>
          </a:prstGeom>
          <a:solidFill>
            <a:srgbClr val="3A3A3C"/>
          </a:solidFill>
          <a:ln w="12700">
            <a:solidFill>
              <a:srgbClr val="3A3A3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79776" y="1207008"/>
            <a:ext cx="566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0909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W3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2551176" y="1481328"/>
            <a:ext cx="9692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D0D0D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产品拍摄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2523744" y="1737360"/>
            <a:ext cx="10241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868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首批内容制作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3959352" y="2729484"/>
            <a:ext cx="182880" cy="182880"/>
          </a:xfrm>
          <a:prstGeom prst="ellipse">
            <a:avLst/>
          </a:prstGeom>
          <a:solidFill>
            <a:srgbClr val="4A4A4C"/>
          </a:solidFill>
          <a:ln w="12700">
            <a:solidFill>
              <a:srgbClr val="60606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046220" y="2926080"/>
            <a:ext cx="22860" cy="1005840"/>
          </a:xfrm>
          <a:prstGeom prst="rect">
            <a:avLst/>
          </a:prstGeom>
          <a:solidFill>
            <a:srgbClr val="3A3A3C"/>
          </a:solidFill>
          <a:ln w="12700">
            <a:solidFill>
              <a:srgbClr val="3A3A3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803904" y="3977640"/>
            <a:ext cx="566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0909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W4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3575304" y="3429000"/>
            <a:ext cx="9692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D0D0D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网站上线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3547872" y="3694176"/>
            <a:ext cx="10241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868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SEO基础 / 内容发布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4983480" y="2729484"/>
            <a:ext cx="182880" cy="182880"/>
          </a:xfrm>
          <a:prstGeom prst="ellipse">
            <a:avLst/>
          </a:prstGeom>
          <a:solidFill>
            <a:srgbClr val="4A4A4C"/>
          </a:solidFill>
          <a:ln w="12700">
            <a:solidFill>
              <a:srgbClr val="60606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070348" y="1554480"/>
            <a:ext cx="22860" cy="1170432"/>
          </a:xfrm>
          <a:prstGeom prst="rect">
            <a:avLst/>
          </a:prstGeom>
          <a:solidFill>
            <a:srgbClr val="3A3A3C"/>
          </a:solidFill>
          <a:ln w="12700">
            <a:solidFill>
              <a:srgbClr val="3A3A3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28032" y="1207008"/>
            <a:ext cx="566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0909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W5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599432" y="1481328"/>
            <a:ext cx="9692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D0D0D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社媒首发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4572000" y="1737360"/>
            <a:ext cx="10241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868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LinkedIn开发信启动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6007608" y="2729484"/>
            <a:ext cx="182880" cy="182880"/>
          </a:xfrm>
          <a:prstGeom prst="ellipse">
            <a:avLst/>
          </a:prstGeom>
          <a:solidFill>
            <a:srgbClr val="4A4A4C"/>
          </a:solidFill>
          <a:ln w="12700">
            <a:solidFill>
              <a:srgbClr val="60606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094476" y="2926080"/>
            <a:ext cx="22860" cy="1005840"/>
          </a:xfrm>
          <a:prstGeom prst="rect">
            <a:avLst/>
          </a:prstGeom>
          <a:solidFill>
            <a:srgbClr val="3A3A3C"/>
          </a:solidFill>
          <a:ln w="12700">
            <a:solidFill>
              <a:srgbClr val="3A3A3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852160" y="3977640"/>
            <a:ext cx="566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0909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W6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5623560" y="3429000"/>
            <a:ext cx="9692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D0D0D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持续触达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5596128" y="3694176"/>
            <a:ext cx="10241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868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精准B端询盘跟进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7031736" y="2729484"/>
            <a:ext cx="182880" cy="182880"/>
          </a:xfrm>
          <a:prstGeom prst="ellipse">
            <a:avLst/>
          </a:prstGeom>
          <a:solidFill>
            <a:srgbClr val="4A4A4C"/>
          </a:solidFill>
          <a:ln w="12700">
            <a:solidFill>
              <a:srgbClr val="60606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7118604" y="1554480"/>
            <a:ext cx="22860" cy="1170432"/>
          </a:xfrm>
          <a:prstGeom prst="rect">
            <a:avLst/>
          </a:prstGeom>
          <a:solidFill>
            <a:srgbClr val="3A3A3C"/>
          </a:solidFill>
          <a:ln w="12700">
            <a:solidFill>
              <a:srgbClr val="3A3A3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876288" y="1207008"/>
            <a:ext cx="566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0909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W7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6647688" y="1481328"/>
            <a:ext cx="9692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D0D0D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报价跟进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6620256" y="1737360"/>
            <a:ext cx="10241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868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发送PI / 确认样品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8055864" y="2729484"/>
            <a:ext cx="182880" cy="18288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8142732" y="2926080"/>
            <a:ext cx="22860" cy="100584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900416" y="3977640"/>
            <a:ext cx="566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9770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W8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7671816" y="3429000"/>
            <a:ext cx="9692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D58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首单成交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7644384" y="3694176"/>
            <a:ext cx="10241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B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收款 / 安排生产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457200" y="4754880"/>
            <a:ext cx="164592" cy="164592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94944" y="4727448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首单目标节点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2926080" y="4754880"/>
            <a:ext cx="164592" cy="164592"/>
          </a:xfrm>
          <a:prstGeom prst="ellipse">
            <a:avLst/>
          </a:prstGeom>
          <a:solidFill>
            <a:srgbClr val="4A4A4C"/>
          </a:solidFill>
          <a:ln w="12700">
            <a:solidFill>
              <a:srgbClr val="60606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163824" y="4727448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07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常规执行节点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82296" cy="53035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347472"/>
            <a:ext cx="7315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独立站设计建议 · 平台选型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58368" y="859536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SITE PLATFORM SELECTION  ·  综合评估三大主流建站工具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347472" y="1170432"/>
            <a:ext cx="5303520" cy="3611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47472" y="1170432"/>
            <a:ext cx="5303520" cy="10058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986784" y="1216152"/>
            <a:ext cx="1572768" cy="329184"/>
          </a:xfrm>
          <a:prstGeom prst="rect">
            <a:avLst/>
          </a:prstGeom>
          <a:solidFill>
            <a:srgbClr val="D97706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986784" y="1216152"/>
            <a:ext cx="15727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★  推荐首选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30352" y="1335024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Shopify</a:t>
            </a:r>
            <a:endParaRPr lang="en-US" sz="2800" dirty="0"/>
          </a:p>
        </p:txBody>
      </p:sp>
      <p:sp>
        <p:nvSpPr>
          <p:cNvPr id="10" name="Shape 8"/>
          <p:cNvSpPr/>
          <p:nvPr/>
        </p:nvSpPr>
        <p:spPr>
          <a:xfrm>
            <a:off x="530352" y="2103120"/>
            <a:ext cx="91440" cy="9144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13232" y="1938528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A4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全球最大跨境电商 SaaS，生态最完善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30352" y="2505456"/>
            <a:ext cx="91440" cy="9144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13232" y="2340864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A4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内置 POD 集成（Printful / Printify 无缝对接）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30352" y="2907792"/>
            <a:ext cx="91440" cy="9144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13232" y="2743200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A4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原生 B2B 批发功能（Shopify B2B on Plus 或插件）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30352" y="3310128"/>
            <a:ext cx="91440" cy="9144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13232" y="3145536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A4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多货币 / 多语言 / 全球支付开箱即用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30352" y="3712464"/>
            <a:ext cx="91440" cy="9144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13232" y="3547872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A4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月费制，无需技术背景，上手快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30352" y="4114800"/>
            <a:ext cx="91440" cy="9144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13232" y="3950208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A4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海量主题，工业质感模板可用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925312" y="1170432"/>
            <a:ext cx="283464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925312" y="1170432"/>
            <a:ext cx="2834640" cy="82296"/>
          </a:xfrm>
          <a:prstGeom prst="rect">
            <a:avLst/>
          </a:prstGeom>
          <a:solidFill>
            <a:srgbClr val="8A8A8A"/>
          </a:solidFill>
          <a:ln w="12700">
            <a:solidFill>
              <a:srgbClr val="8A8A8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071616" y="1298448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SHOPLAZZA 店匠</a:t>
            </a:r>
            <a:endParaRPr lang="en-US" sz="1450" dirty="0"/>
          </a:p>
        </p:txBody>
      </p:sp>
      <p:sp>
        <p:nvSpPr>
          <p:cNvPr id="25" name="Text 23"/>
          <p:cNvSpPr/>
          <p:nvPr/>
        </p:nvSpPr>
        <p:spPr>
          <a:xfrm>
            <a:off x="6071616" y="1773936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中文界面友好，国内团队易操作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6071616" y="2103120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909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国际化生态不及 Shopify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5925312" y="2999232"/>
            <a:ext cx="283464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925312" y="2999232"/>
            <a:ext cx="2834640" cy="82296"/>
          </a:xfrm>
          <a:prstGeom prst="rect">
            <a:avLst/>
          </a:prstGeom>
          <a:solidFill>
            <a:srgbClr val="8A8A8A"/>
          </a:solidFill>
          <a:ln w="12700">
            <a:solidFill>
              <a:srgbClr val="8A8A8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071616" y="3127248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WooCommerce</a:t>
            </a:r>
            <a:endParaRPr lang="en-US" sz="1450" dirty="0"/>
          </a:p>
        </p:txBody>
      </p:sp>
      <p:sp>
        <p:nvSpPr>
          <p:cNvPr id="30" name="Text 28"/>
          <p:cNvSpPr/>
          <p:nvPr/>
        </p:nvSpPr>
        <p:spPr>
          <a:xfrm>
            <a:off x="6071616" y="3602736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长期成本低，灵活性高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6071616" y="3931920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909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需要技术背景，维护成本高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347472" y="4800600"/>
            <a:ext cx="84490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909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三个平台均可实现目标，综合起盘速度与 POD 集成，优先推荐 Shopify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112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6400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独立站设计建议 · 页面结构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15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ARCHITECTURE  ·  B2B定制展示站  ·  工厂质感视觉风格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291840" y="1024128"/>
            <a:ext cx="2560320" cy="603504"/>
          </a:xfrm>
          <a:prstGeom prst="rect">
            <a:avLst/>
          </a:prstGeom>
          <a:solidFill>
            <a:srgbClr val="D97706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91840" y="1024128"/>
            <a:ext cx="25603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首页  Homepage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58284" y="1627632"/>
            <a:ext cx="27432" cy="475488"/>
          </a:xfrm>
          <a:prstGeom prst="rect">
            <a:avLst/>
          </a:prstGeom>
          <a:solidFill>
            <a:srgbClr val="404040"/>
          </a:solidFill>
          <a:ln w="12700">
            <a:solidFill>
              <a:srgbClr val="40404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68680" y="2103120"/>
            <a:ext cx="7406640" cy="32004"/>
          </a:xfrm>
          <a:prstGeom prst="rect">
            <a:avLst/>
          </a:prstGeom>
          <a:solidFill>
            <a:srgbClr val="3A3A3C"/>
          </a:solidFill>
          <a:ln w="12700">
            <a:solidFill>
              <a:srgbClr val="3A3A3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24712" y="2139696"/>
            <a:ext cx="22860" cy="402336"/>
          </a:xfrm>
          <a:prstGeom prst="rect">
            <a:avLst/>
          </a:prstGeom>
          <a:solidFill>
            <a:srgbClr val="404040"/>
          </a:solidFill>
          <a:ln w="12700">
            <a:solidFill>
              <a:srgbClr val="40404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0040" y="2542032"/>
            <a:ext cx="1591056" cy="2304288"/>
          </a:xfrm>
          <a:prstGeom prst="rect">
            <a:avLst/>
          </a:prstGeom>
          <a:solidFill>
            <a:srgbClr val="2A2C2E"/>
          </a:solidFill>
          <a:ln w="12700">
            <a:solidFill>
              <a:srgbClr val="40404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0040" y="2542032"/>
            <a:ext cx="64008" cy="2304288"/>
          </a:xfrm>
          <a:prstGeom prst="rect">
            <a:avLst/>
          </a:prstGeom>
          <a:solidFill>
            <a:srgbClr val="D97706">
              <a:alpha val="45000"/>
            </a:srgbClr>
          </a:solidFill>
          <a:ln w="12700">
            <a:solidFill>
              <a:srgbClr val="D97706">
                <a:alpha val="45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48056" y="2651760"/>
            <a:ext cx="1417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产品目录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48056" y="3017520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448056" y="3310128"/>
            <a:ext cx="1335024" cy="22860"/>
          </a:xfrm>
          <a:prstGeom prst="rect">
            <a:avLst/>
          </a:prstGeom>
          <a:solidFill>
            <a:srgbClr val="404040"/>
          </a:solidFill>
          <a:ln w="12700">
            <a:solidFill>
              <a:srgbClr val="40404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48056" y="3401568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A8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POD款清晰展示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48056" y="3785616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A8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尺码/规格完整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48056" y="4169664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A8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按品类筛选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2816352" y="2139696"/>
            <a:ext cx="22860" cy="402336"/>
          </a:xfrm>
          <a:prstGeom prst="rect">
            <a:avLst/>
          </a:prstGeom>
          <a:solidFill>
            <a:srgbClr val="404040"/>
          </a:solidFill>
          <a:ln w="12700">
            <a:solidFill>
              <a:srgbClr val="40404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011680" y="2542032"/>
            <a:ext cx="1591056" cy="2304288"/>
          </a:xfrm>
          <a:prstGeom prst="rect">
            <a:avLst/>
          </a:prstGeom>
          <a:solidFill>
            <a:srgbClr val="2A2C2E"/>
          </a:solidFill>
          <a:ln w="12700">
            <a:solidFill>
              <a:srgbClr val="40404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011680" y="2542032"/>
            <a:ext cx="64008" cy="2304288"/>
          </a:xfrm>
          <a:prstGeom prst="rect">
            <a:avLst/>
          </a:prstGeom>
          <a:solidFill>
            <a:srgbClr val="D97706">
              <a:alpha val="45000"/>
            </a:srgbClr>
          </a:solidFill>
          <a:ln w="12700">
            <a:solidFill>
              <a:srgbClr val="D97706">
                <a:alpha val="45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139696" y="2651760"/>
            <a:ext cx="1417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定制下单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2139696" y="3017520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Order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2139696" y="3310128"/>
            <a:ext cx="1335024" cy="22860"/>
          </a:xfrm>
          <a:prstGeom prst="rect">
            <a:avLst/>
          </a:prstGeom>
          <a:solidFill>
            <a:srgbClr val="404040"/>
          </a:solidFill>
          <a:ln w="12700">
            <a:solidFill>
              <a:srgbClr val="40404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139696" y="3401568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A8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MOQ说明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2139696" y="3785616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A8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在线报价表单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2139696" y="4169664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A8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样品申请入口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507992" y="2139696"/>
            <a:ext cx="22860" cy="402336"/>
          </a:xfrm>
          <a:prstGeom prst="rect">
            <a:avLst/>
          </a:prstGeom>
          <a:solidFill>
            <a:srgbClr val="404040"/>
          </a:solidFill>
          <a:ln w="12700">
            <a:solidFill>
              <a:srgbClr val="40404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703320" y="2542032"/>
            <a:ext cx="1591056" cy="2304288"/>
          </a:xfrm>
          <a:prstGeom prst="rect">
            <a:avLst/>
          </a:prstGeom>
          <a:solidFill>
            <a:srgbClr val="2A2C2E"/>
          </a:solidFill>
          <a:ln w="12700">
            <a:solidFill>
              <a:srgbClr val="40404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703320" y="2542032"/>
            <a:ext cx="64008" cy="2304288"/>
          </a:xfrm>
          <a:prstGeom prst="rect">
            <a:avLst/>
          </a:prstGeom>
          <a:solidFill>
            <a:srgbClr val="D97706">
              <a:alpha val="45000"/>
            </a:srgbClr>
          </a:solidFill>
          <a:ln w="12700">
            <a:solidFill>
              <a:srgbClr val="D97706">
                <a:alpha val="45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831336" y="2651760"/>
            <a:ext cx="1417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关于/工厂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3831336" y="3017520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/ Factory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3831336" y="3310128"/>
            <a:ext cx="1335024" cy="22860"/>
          </a:xfrm>
          <a:prstGeom prst="rect">
            <a:avLst/>
          </a:prstGeom>
          <a:solidFill>
            <a:srgbClr val="404040"/>
          </a:solidFill>
          <a:ln w="12700">
            <a:solidFill>
              <a:srgbClr val="40404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831336" y="3401568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A8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工厂实拍照片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3831336" y="3785616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A8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产能&amp;认证展示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3831336" y="4169664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A8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品牌故事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6199632" y="2139696"/>
            <a:ext cx="22860" cy="402336"/>
          </a:xfrm>
          <a:prstGeom prst="rect">
            <a:avLst/>
          </a:prstGeom>
          <a:solidFill>
            <a:srgbClr val="404040"/>
          </a:solidFill>
          <a:ln w="12700">
            <a:solidFill>
              <a:srgbClr val="40404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394960" y="2542032"/>
            <a:ext cx="1591056" cy="2304288"/>
          </a:xfrm>
          <a:prstGeom prst="rect">
            <a:avLst/>
          </a:prstGeom>
          <a:solidFill>
            <a:srgbClr val="2A2C2E"/>
          </a:solidFill>
          <a:ln w="12700">
            <a:solidFill>
              <a:srgbClr val="40404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394960" y="2542032"/>
            <a:ext cx="64008" cy="2304288"/>
          </a:xfrm>
          <a:prstGeom prst="rect">
            <a:avLst/>
          </a:prstGeom>
          <a:solidFill>
            <a:srgbClr val="D97706">
              <a:alpha val="45000"/>
            </a:srgbClr>
          </a:solidFill>
          <a:ln w="12700">
            <a:solidFill>
              <a:srgbClr val="D97706">
                <a:alpha val="4500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522976" y="2651760"/>
            <a:ext cx="1417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案例展示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5522976" y="3017520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Showcase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5522976" y="3310128"/>
            <a:ext cx="1335024" cy="22860"/>
          </a:xfrm>
          <a:prstGeom prst="rect">
            <a:avLst/>
          </a:prstGeom>
          <a:solidFill>
            <a:srgbClr val="404040"/>
          </a:solidFill>
          <a:ln w="12700">
            <a:solidFill>
              <a:srgbClr val="40404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522976" y="3401568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A8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B端合作案例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5522976" y="3785616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A8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买家效果图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5522976" y="4169664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A8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产品细节图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7891272" y="2139696"/>
            <a:ext cx="22860" cy="402336"/>
          </a:xfrm>
          <a:prstGeom prst="rect">
            <a:avLst/>
          </a:prstGeom>
          <a:solidFill>
            <a:srgbClr val="404040"/>
          </a:solidFill>
          <a:ln w="12700">
            <a:solidFill>
              <a:srgbClr val="404040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7086600" y="2542032"/>
            <a:ext cx="1591056" cy="2304288"/>
          </a:xfrm>
          <a:prstGeom prst="rect">
            <a:avLst/>
          </a:prstGeom>
          <a:solidFill>
            <a:srgbClr val="2A2C2E"/>
          </a:solidFill>
          <a:ln w="12700">
            <a:solidFill>
              <a:srgbClr val="404040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086600" y="2542032"/>
            <a:ext cx="64008" cy="2304288"/>
          </a:xfrm>
          <a:prstGeom prst="rect">
            <a:avLst/>
          </a:prstGeom>
          <a:solidFill>
            <a:srgbClr val="D97706">
              <a:alpha val="45000"/>
            </a:srgbClr>
          </a:solidFill>
          <a:ln w="12700">
            <a:solidFill>
              <a:srgbClr val="D97706">
                <a:alpha val="45000"/>
              </a:srgbClr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214616" y="2651760"/>
            <a:ext cx="1417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联系我们</a:t>
            </a:r>
            <a:endParaRPr lang="en-US" sz="1400" dirty="0"/>
          </a:p>
        </p:txBody>
      </p:sp>
      <p:sp>
        <p:nvSpPr>
          <p:cNvPr id="49" name="Text 47"/>
          <p:cNvSpPr/>
          <p:nvPr/>
        </p:nvSpPr>
        <p:spPr>
          <a:xfrm>
            <a:off x="7214616" y="3017520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7214616" y="3310128"/>
            <a:ext cx="1335024" cy="22860"/>
          </a:xfrm>
          <a:prstGeom prst="rect">
            <a:avLst/>
          </a:prstGeom>
          <a:solidFill>
            <a:srgbClr val="404040"/>
          </a:solidFill>
          <a:ln w="12700">
            <a:solidFill>
              <a:srgbClr val="40404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214616" y="3401568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A8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WhatsApp按钮</a:t>
            </a:r>
            <a:endParaRPr lang="en-US" sz="950" dirty="0"/>
          </a:p>
        </p:txBody>
      </p:sp>
      <p:sp>
        <p:nvSpPr>
          <p:cNvPr id="52" name="Text 50"/>
          <p:cNvSpPr/>
          <p:nvPr/>
        </p:nvSpPr>
        <p:spPr>
          <a:xfrm>
            <a:off x="7214616" y="3785616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A8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Email + 表单</a:t>
            </a:r>
            <a:endParaRPr lang="en-US" sz="950" dirty="0"/>
          </a:p>
        </p:txBody>
      </p:sp>
      <p:sp>
        <p:nvSpPr>
          <p:cNvPr id="53" name="Text 51"/>
          <p:cNvSpPr/>
          <p:nvPr/>
        </p:nvSpPr>
        <p:spPr>
          <a:xfrm>
            <a:off x="7214616" y="4169664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A8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在线询盘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82296" cy="53035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347472"/>
            <a:ext cx="7772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独立站设计建议 · 视觉调性 &amp; 关键功能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658368" y="859536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IDENTITY DIRECTION  +  MUST-HAVE FEATURES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347472" y="1143000"/>
            <a:ext cx="402336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47472" y="1143000"/>
            <a:ext cx="4023360" cy="82296"/>
          </a:xfrm>
          <a:prstGeom prst="rect">
            <a:avLst/>
          </a:prstGeom>
          <a:solidFill>
            <a:srgbClr val="111213"/>
          </a:solidFill>
          <a:ln w="12700">
            <a:solidFill>
              <a:srgbClr val="11121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93776" y="1243584"/>
            <a:ext cx="3749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视觉调性方向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93776" y="1737360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主色调：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1508760" y="1737360"/>
            <a:ext cx="2697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4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黑/深灰底 + 工业橙/卡其黄点缀 + 米白背景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93776" y="2185416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字体：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1508760" y="2185416"/>
            <a:ext cx="2697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4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粗衬线标题（Georgia/Impact）+ 简洁正文（Calibri）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93776" y="2633472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图片风格：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1508760" y="2633472"/>
            <a:ext cx="2697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4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工厂实拍 + 白底产品图 + 上身真实效果图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93776" y="3081528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Hero区：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1508760" y="3081528"/>
            <a:ext cx="2697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4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全屏大图 + 简短有力 Slogan，突出「工厂直营」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93776" y="3529584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布局：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1508760" y="3529584"/>
            <a:ext cx="2697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4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左右分栏 / 大留白，避免堆砌，移动端优先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93776" y="3977640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Logo方向：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1508760" y="3977640"/>
            <a:ext cx="2697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4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简约英文 Logo，带制造/工厂质感，全球通用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93776" y="4425696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语言：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1508760" y="4425696"/>
            <a:ext cx="2697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4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英文主站，可加西班牙语/阿拉伯语分页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645152" y="1143000"/>
            <a:ext cx="4160520" cy="3749040"/>
          </a:xfrm>
          <a:prstGeom prst="rect">
            <a:avLst/>
          </a:prstGeom>
          <a:solidFill>
            <a:srgbClr val="111213"/>
          </a:solidFill>
          <a:ln w="12700">
            <a:solidFill>
              <a:srgbClr val="30303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645152" y="1143000"/>
            <a:ext cx="4160520" cy="82296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91456" y="1243584"/>
            <a:ext cx="3840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关键功能清单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4791456" y="1801368"/>
            <a:ext cx="566928" cy="23774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91456" y="1801368"/>
            <a:ext cx="566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必须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5449824" y="1737360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EEEEE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MOQ &amp; 价格区间展示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5449824" y="2011680"/>
            <a:ext cx="2423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787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明确告知买家起订量与价格梯度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4791456" y="2249424"/>
            <a:ext cx="566928" cy="23774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791456" y="2249424"/>
            <a:ext cx="566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必须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5449824" y="2185416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EEEEE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在线询价 / 报价表单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5449824" y="2459736"/>
            <a:ext cx="2423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787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B端核心入口，24小时接受询盘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4791456" y="2697480"/>
            <a:ext cx="566928" cy="23774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791456" y="2697480"/>
            <a:ext cx="566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必须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5449824" y="2633472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EEEEE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WhatsApp 快速联系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5449824" y="2907792"/>
            <a:ext cx="2423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787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全球买家首选即时沟通渠道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4791456" y="3145536"/>
            <a:ext cx="566928" cy="237744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91456" y="3145536"/>
            <a:ext cx="566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重要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5449824" y="3081528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EEEEE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样品申请流程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5449824" y="3355848"/>
            <a:ext cx="2423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787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降低合作门槛，快速建立信任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4791456" y="3593592"/>
            <a:ext cx="566928" cy="237744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791456" y="3593592"/>
            <a:ext cx="566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重要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5449824" y="3529584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EEEEE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工厂实拍 &amp; 产能展示</a:t>
            </a:r>
            <a:endParaRPr lang="en-US" sz="1150" dirty="0"/>
          </a:p>
        </p:txBody>
      </p:sp>
      <p:sp>
        <p:nvSpPr>
          <p:cNvPr id="44" name="Text 42"/>
          <p:cNvSpPr/>
          <p:nvPr/>
        </p:nvSpPr>
        <p:spPr>
          <a:xfrm>
            <a:off x="5449824" y="3803904"/>
            <a:ext cx="2423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787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视觉背书，直接提升转化率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4791456" y="4041648"/>
            <a:ext cx="566928" cy="237744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791456" y="4041648"/>
            <a:ext cx="566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重要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5449824" y="3977640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EEEEE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POD 设计稿上传功能</a:t>
            </a:r>
            <a:endParaRPr lang="en-US" sz="1150" dirty="0"/>
          </a:p>
        </p:txBody>
      </p:sp>
      <p:sp>
        <p:nvSpPr>
          <p:cNvPr id="48" name="Text 46"/>
          <p:cNvSpPr/>
          <p:nvPr/>
        </p:nvSpPr>
        <p:spPr>
          <a:xfrm>
            <a:off x="5449824" y="4251960"/>
            <a:ext cx="2423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787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定制订单流程化，减少沟通成本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4791456" y="4489704"/>
            <a:ext cx="566928" cy="237744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791456" y="4489704"/>
            <a:ext cx="566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基础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5449824" y="4425696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EEEEE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Google Analytics 集成</a:t>
            </a:r>
            <a:endParaRPr lang="en-US" sz="1150" dirty="0"/>
          </a:p>
        </p:txBody>
      </p:sp>
      <p:sp>
        <p:nvSpPr>
          <p:cNvPr id="52" name="Text 50"/>
          <p:cNvSpPr/>
          <p:nvPr/>
        </p:nvSpPr>
        <p:spPr>
          <a:xfrm>
            <a:off x="5449824" y="4700016"/>
            <a:ext cx="2423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787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流量与转化数据实时监控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112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200400" cy="5143500"/>
          </a:xfrm>
          <a:prstGeom prst="rect">
            <a:avLst/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280160"/>
            <a:ext cx="25603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D9770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立即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D9770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行动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274320" y="324612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spc="400" kern="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endParaRPr lang="en-US" sz="1400" dirty="0"/>
          </a:p>
          <a:p>
            <a:pPr algn="l" indent="0" marL="0">
              <a:buNone/>
            </a:pPr>
            <a:r>
              <a:rPr lang="en-US" sz="1400" spc="400" kern="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274320" y="4133088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5656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首7天优先清单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364992" y="420624"/>
            <a:ext cx="5431536" cy="694944"/>
          </a:xfrm>
          <a:prstGeom prst="rect">
            <a:avLst/>
          </a:prstGeom>
          <a:solidFill>
            <a:srgbClr val="2A2C2E"/>
          </a:solidFill>
          <a:ln w="12700">
            <a:solidFill>
              <a:srgbClr val="36363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93008" y="557784"/>
            <a:ext cx="402336" cy="402336"/>
          </a:xfrm>
          <a:prstGeom prst="ellipse">
            <a:avLst/>
          </a:prstGeom>
          <a:solidFill>
            <a:srgbClr val="D97706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93008" y="55778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986784" y="566928"/>
            <a:ext cx="36576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EEE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确定品牌名 + 注册 .com 域名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699248" y="621792"/>
            <a:ext cx="969264" cy="274320"/>
          </a:xfrm>
          <a:prstGeom prst="rect">
            <a:avLst/>
          </a:prstGeom>
          <a:solidFill>
            <a:srgbClr val="D97706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699248" y="621792"/>
            <a:ext cx="9692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今天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364992" y="1202436"/>
            <a:ext cx="5431536" cy="694944"/>
          </a:xfrm>
          <a:prstGeom prst="rect">
            <a:avLst/>
          </a:prstGeom>
          <a:solidFill>
            <a:srgbClr val="2A2C2E"/>
          </a:solidFill>
          <a:ln w="12700">
            <a:solidFill>
              <a:srgbClr val="36363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493008" y="1339596"/>
            <a:ext cx="402336" cy="402336"/>
          </a:xfrm>
          <a:prstGeom prst="ellipse">
            <a:avLst/>
          </a:prstGeom>
          <a:solidFill>
            <a:srgbClr val="D97706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493008" y="133959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986784" y="1348740"/>
            <a:ext cx="36576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EEE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开通 Shopify 试用账号（免费14天）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699248" y="1403604"/>
            <a:ext cx="969264" cy="274320"/>
          </a:xfrm>
          <a:prstGeom prst="rect">
            <a:avLst/>
          </a:prstGeom>
          <a:solidFill>
            <a:srgbClr val="D97706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699248" y="1403604"/>
            <a:ext cx="9692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今天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364992" y="1984248"/>
            <a:ext cx="5431536" cy="694944"/>
          </a:xfrm>
          <a:prstGeom prst="rect">
            <a:avLst/>
          </a:prstGeom>
          <a:solidFill>
            <a:srgbClr val="2A2C2E"/>
          </a:solidFill>
          <a:ln w="12700">
            <a:solidFill>
              <a:srgbClr val="36363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493008" y="2121408"/>
            <a:ext cx="402336" cy="402336"/>
          </a:xfrm>
          <a:prstGeom prst="ellipse">
            <a:avLst/>
          </a:prstGeom>
          <a:solidFill>
            <a:srgbClr val="383838"/>
          </a:solidFill>
          <a:ln w="12700">
            <a:solidFill>
              <a:srgbClr val="50505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493008" y="212140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986784" y="2130552"/>
            <a:ext cx="36576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EEE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规划首批 POD 款（5–10个 SKU）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7699248" y="2185416"/>
            <a:ext cx="969264" cy="274320"/>
          </a:xfrm>
          <a:prstGeom prst="rect">
            <a:avLst/>
          </a:prstGeom>
          <a:solidFill>
            <a:srgbClr val="404040"/>
          </a:solidFill>
          <a:ln w="12700">
            <a:solidFill>
              <a:srgbClr val="50505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699248" y="2185416"/>
            <a:ext cx="9692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本周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364992" y="2766060"/>
            <a:ext cx="5431536" cy="694944"/>
          </a:xfrm>
          <a:prstGeom prst="rect">
            <a:avLst/>
          </a:prstGeom>
          <a:solidFill>
            <a:srgbClr val="2A2C2E"/>
          </a:solidFill>
          <a:ln w="12700">
            <a:solidFill>
              <a:srgbClr val="36363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493008" y="2903220"/>
            <a:ext cx="402336" cy="402336"/>
          </a:xfrm>
          <a:prstGeom prst="ellipse">
            <a:avLst/>
          </a:prstGeom>
          <a:solidFill>
            <a:srgbClr val="383838"/>
          </a:solidFill>
          <a:ln w="12700">
            <a:solidFill>
              <a:srgbClr val="50505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493008" y="29032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3986784" y="2912364"/>
            <a:ext cx="36576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EEE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开通 Instagram / TikTok / LinkedIn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7699248" y="2967228"/>
            <a:ext cx="969264" cy="274320"/>
          </a:xfrm>
          <a:prstGeom prst="rect">
            <a:avLst/>
          </a:prstGeom>
          <a:solidFill>
            <a:srgbClr val="404040"/>
          </a:solidFill>
          <a:ln w="12700">
            <a:solidFill>
              <a:srgbClr val="50505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699248" y="2967228"/>
            <a:ext cx="9692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本周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3364992" y="3547872"/>
            <a:ext cx="5431536" cy="694944"/>
          </a:xfrm>
          <a:prstGeom prst="rect">
            <a:avLst/>
          </a:prstGeom>
          <a:solidFill>
            <a:srgbClr val="2A2C2E"/>
          </a:solidFill>
          <a:ln w="12700">
            <a:solidFill>
              <a:srgbClr val="36363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493008" y="3685032"/>
            <a:ext cx="402336" cy="402336"/>
          </a:xfrm>
          <a:prstGeom prst="ellipse">
            <a:avLst/>
          </a:prstGeom>
          <a:solidFill>
            <a:srgbClr val="383838"/>
          </a:solidFill>
          <a:ln w="12700">
            <a:solidFill>
              <a:srgbClr val="50505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493008" y="36850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3986784" y="3694176"/>
            <a:ext cx="36576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EEE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完成工厂 &amp; 产品拍摄素材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7699248" y="3749040"/>
            <a:ext cx="969264" cy="274320"/>
          </a:xfrm>
          <a:prstGeom prst="rect">
            <a:avLst/>
          </a:prstGeom>
          <a:solidFill>
            <a:srgbClr val="404040"/>
          </a:solidFill>
          <a:ln w="12700">
            <a:solidFill>
              <a:srgbClr val="50505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699248" y="3749040"/>
            <a:ext cx="9692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第2周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3364992" y="4329684"/>
            <a:ext cx="5431536" cy="694944"/>
          </a:xfrm>
          <a:prstGeom prst="rect">
            <a:avLst/>
          </a:prstGeom>
          <a:solidFill>
            <a:srgbClr val="2A2C2E"/>
          </a:solidFill>
          <a:ln w="12700">
            <a:solidFill>
              <a:srgbClr val="363636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493008" y="4466844"/>
            <a:ext cx="402336" cy="402336"/>
          </a:xfrm>
          <a:prstGeom prst="ellipse">
            <a:avLst/>
          </a:prstGeom>
          <a:solidFill>
            <a:srgbClr val="383838"/>
          </a:solidFill>
          <a:ln w="12700">
            <a:solidFill>
              <a:srgbClr val="50505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493008" y="446684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3986784" y="4475988"/>
            <a:ext cx="36576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EEE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 搜索首批 50 个目标买家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7699248" y="4530852"/>
            <a:ext cx="969264" cy="274320"/>
          </a:xfrm>
          <a:prstGeom prst="rect">
            <a:avLst/>
          </a:prstGeom>
          <a:solidFill>
            <a:srgbClr val="404040"/>
          </a:solidFill>
          <a:ln w="12700">
            <a:solidFill>
              <a:srgbClr val="50505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699248" y="4530852"/>
            <a:ext cx="9692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第3周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3364992" y="4956048"/>
            <a:ext cx="5431536" cy="9144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服装独立站出海 一期全局执行方案</dc:title>
  <dc:subject>PptxGenJS Presentation</dc:subject>
  <dc:creator>PptxGenJS</dc:creator>
  <cp:lastModifiedBy>PptxGenJS</cp:lastModifiedBy>
  <cp:revision>1</cp:revision>
  <dcterms:created xsi:type="dcterms:W3CDTF">2026-05-26T09:59:36Z</dcterms:created>
  <dcterms:modified xsi:type="dcterms:W3CDTF">2026-05-26T09:59:36Z</dcterms:modified>
</cp:coreProperties>
</file>